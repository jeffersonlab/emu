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9" r:id="rId3"/>
    <p:sldId id="260" r:id="rId4"/>
    <p:sldId id="257" r:id="rId5"/>
    <p:sldId id="258" r:id="rId6"/>
  </p:sldIdLst>
  <p:sldSz cx="9144000" cy="6858000" type="letter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7FF"/>
    <a:srgbClr val="DEC9FF"/>
    <a:srgbClr val="380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60"/>
    <p:restoredTop sz="96405"/>
  </p:normalViewPr>
  <p:slideViewPr>
    <p:cSldViewPr snapToGrid="0" snapToObjects="1">
      <p:cViewPr varScale="1">
        <p:scale>
          <a:sx n="131" d="100"/>
          <a:sy n="131" d="100"/>
        </p:scale>
        <p:origin x="1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F253B-0AEB-9446-A946-A05F6455C0D4}" type="datetimeFigureOut">
              <a:rPr lang="en-US" smtClean="0"/>
              <a:t>11/3/22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03B2F-5DA1-F14A-A56C-DE6C89E74B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F253B-0AEB-9446-A946-A05F6455C0D4}" type="datetimeFigureOut">
              <a:rPr lang="en-US" smtClean="0"/>
              <a:t>11/3/22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03B2F-5DA1-F14A-A56C-DE6C89E74B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F253B-0AEB-9446-A946-A05F6455C0D4}" type="datetimeFigureOut">
              <a:rPr lang="en-US" smtClean="0"/>
              <a:t>11/3/22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03B2F-5DA1-F14A-A56C-DE6C89E74B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F253B-0AEB-9446-A946-A05F6455C0D4}" type="datetimeFigureOut">
              <a:rPr lang="en-US" smtClean="0"/>
              <a:t>11/3/22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03B2F-5DA1-F14A-A56C-DE6C89E74B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F253B-0AEB-9446-A946-A05F6455C0D4}" type="datetimeFigureOut">
              <a:rPr lang="en-US" smtClean="0"/>
              <a:t>11/3/22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03B2F-5DA1-F14A-A56C-DE6C89E74B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F253B-0AEB-9446-A946-A05F6455C0D4}" type="datetimeFigureOut">
              <a:rPr lang="en-US" smtClean="0"/>
              <a:t>11/3/22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03B2F-5DA1-F14A-A56C-DE6C89E74B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F253B-0AEB-9446-A946-A05F6455C0D4}" type="datetimeFigureOut">
              <a:rPr lang="en-US" smtClean="0"/>
              <a:t>11/3/22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03B2F-5DA1-F14A-A56C-DE6C89E74B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F253B-0AEB-9446-A946-A05F6455C0D4}" type="datetimeFigureOut">
              <a:rPr lang="en-US" smtClean="0"/>
              <a:t>11/3/22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03B2F-5DA1-F14A-A56C-DE6C89E74B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F253B-0AEB-9446-A946-A05F6455C0D4}" type="datetimeFigureOut">
              <a:rPr lang="en-US" smtClean="0"/>
              <a:t>11/3/22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03B2F-5DA1-F14A-A56C-DE6C89E74B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F253B-0AEB-9446-A946-A05F6455C0D4}" type="datetimeFigureOut">
              <a:rPr lang="en-US" smtClean="0"/>
              <a:t>11/3/22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03B2F-5DA1-F14A-A56C-DE6C89E74B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F253B-0AEB-9446-A946-A05F6455C0D4}" type="datetimeFigureOut">
              <a:rPr lang="en-US" smtClean="0"/>
              <a:t>11/3/22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503B2F-5DA1-F14A-A56C-DE6C89E74B4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F253B-0AEB-9446-A946-A05F6455C0D4}" type="datetimeFigureOut">
              <a:rPr lang="en-US" smtClean="0"/>
              <a:t>11/3/22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503B2F-5DA1-F14A-A56C-DE6C89E74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84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01"/>
          <p:cNvSpPr txBox="1"/>
          <p:nvPr/>
        </p:nvSpPr>
        <p:spPr>
          <a:xfrm rot="16200000">
            <a:off x="-1139235" y="3382405"/>
            <a:ext cx="3067050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itchFamily="34" charset="0"/>
                <a:cs typeface="Arial" pitchFamily="34" charset="0"/>
              </a:rPr>
              <a:t>ROC Time Slice Bank</a:t>
            </a:r>
          </a:p>
        </p:txBody>
      </p:sp>
      <p:cxnSp>
        <p:nvCxnSpPr>
          <p:cNvPr id="103" name="Straight Arrow Connector 102"/>
          <p:cNvCxnSpPr/>
          <p:nvPr/>
        </p:nvCxnSpPr>
        <p:spPr>
          <a:xfrm flipV="1">
            <a:off x="4267200" y="971669"/>
            <a:ext cx="1016179" cy="224761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4865980" y="5182850"/>
            <a:ext cx="3148814" cy="144655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rgbClr val="0070C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ROC Time Slice Bank</a:t>
            </a:r>
          </a:p>
          <a:p>
            <a:endParaRPr lang="en-US" sz="1200" dirty="0"/>
          </a:p>
          <a:p>
            <a:r>
              <a:rPr lang="en-US" sz="1200" dirty="0"/>
              <a:t>(Note that multiple Time Slices can be transported as defined in the EVIO Header)</a:t>
            </a:r>
          </a:p>
          <a:p>
            <a:endParaRPr lang="en-US" sz="1200" dirty="0"/>
          </a:p>
          <a:p>
            <a:r>
              <a:rPr lang="en-US" sz="1200" dirty="0"/>
              <a:t>Multiple Streams can be included as defined by the Stream Status bits.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14400" y="848380"/>
            <a:ext cx="838200" cy="338554"/>
          </a:xfrm>
          <a:prstGeom prst="rect">
            <a:avLst/>
          </a:prstGeom>
          <a:noFill/>
          <a:ln>
            <a:noFill/>
            <a:prstDash val="dash"/>
          </a:ln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Header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52248" y="2187924"/>
            <a:ext cx="876300" cy="1077218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Stream Info</a:t>
            </a:r>
          </a:p>
          <a:p>
            <a:pPr algn="ctr"/>
            <a:r>
              <a:rPr lang="en-US" sz="1600" dirty="0">
                <a:solidFill>
                  <a:srgbClr val="0070C0"/>
                </a:solidFill>
              </a:rPr>
              <a:t>Bank</a:t>
            </a:r>
          </a:p>
          <a:p>
            <a:pPr algn="ctr"/>
            <a:r>
              <a:rPr lang="en-US" sz="1600" dirty="0">
                <a:solidFill>
                  <a:srgbClr val="0070C0"/>
                </a:solidFill>
              </a:rPr>
              <a:t>(SIB)</a:t>
            </a:r>
          </a:p>
        </p:txBody>
      </p:sp>
      <p:sp>
        <p:nvSpPr>
          <p:cNvPr id="107" name="Left Brace 106"/>
          <p:cNvSpPr/>
          <p:nvPr/>
        </p:nvSpPr>
        <p:spPr>
          <a:xfrm flipH="1">
            <a:off x="4381500" y="1903870"/>
            <a:ext cx="304800" cy="1086979"/>
          </a:xfrm>
          <a:prstGeom prst="leftBrace">
            <a:avLst>
              <a:gd name="adj1" fmla="val 42708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TextBox 107"/>
          <p:cNvSpPr txBox="1"/>
          <p:nvPr/>
        </p:nvSpPr>
        <p:spPr>
          <a:xfrm>
            <a:off x="990600" y="5054025"/>
            <a:ext cx="685800" cy="584775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Data Banks</a:t>
            </a:r>
          </a:p>
        </p:txBody>
      </p:sp>
      <p:sp>
        <p:nvSpPr>
          <p:cNvPr id="109" name="Left Brace 108"/>
          <p:cNvSpPr/>
          <p:nvPr/>
        </p:nvSpPr>
        <p:spPr>
          <a:xfrm>
            <a:off x="1676400" y="1295400"/>
            <a:ext cx="304800" cy="2800739"/>
          </a:xfrm>
          <a:prstGeom prst="leftBrace">
            <a:avLst>
              <a:gd name="adj1" fmla="val 6458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10" name="Left Brace 109"/>
          <p:cNvSpPr/>
          <p:nvPr/>
        </p:nvSpPr>
        <p:spPr>
          <a:xfrm>
            <a:off x="1676400" y="772180"/>
            <a:ext cx="304800" cy="533400"/>
          </a:xfrm>
          <a:prstGeom prst="leftBrace">
            <a:avLst>
              <a:gd name="adj1" fmla="val 3125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11" name="Left Brace 110"/>
          <p:cNvSpPr/>
          <p:nvPr/>
        </p:nvSpPr>
        <p:spPr>
          <a:xfrm>
            <a:off x="1676400" y="4105108"/>
            <a:ext cx="304800" cy="2524292"/>
          </a:xfrm>
          <a:prstGeom prst="leftBrace">
            <a:avLst>
              <a:gd name="adj1" fmla="val 6458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2057400" y="762000"/>
            <a:ext cx="2209800" cy="5867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latin typeface="Arial" pitchFamily="34" charset="0"/>
                <a:cs typeface="Arial" pitchFamily="34" charset="0"/>
              </a:rPr>
              <a:t>             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057400" y="781705"/>
            <a:ext cx="2209800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itchFamily="34" charset="0"/>
                <a:cs typeface="Arial" pitchFamily="34" charset="0"/>
              </a:rPr>
              <a:t>ROC Bank Length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057400" y="1334155"/>
            <a:ext cx="220980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itchFamily="34" charset="0"/>
                <a:cs typeface="Arial" pitchFamily="34" charset="0"/>
              </a:rPr>
              <a:t>Stream Info Length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057399" y="4649747"/>
            <a:ext cx="2209800" cy="5232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8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1200" b="1" dirty="0">
                <a:latin typeface="Arial" pitchFamily="34" charset="0"/>
                <a:cs typeface="Arial" pitchFamily="34" charset="0"/>
              </a:rPr>
              <a:t>PP 1 Data</a:t>
            </a:r>
          </a:p>
          <a:p>
            <a:pPr algn="ctr"/>
            <a:endParaRPr lang="en-US" sz="800" b="1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16" name="Group 108"/>
          <p:cNvGrpSpPr/>
          <p:nvPr/>
        </p:nvGrpSpPr>
        <p:grpSpPr>
          <a:xfrm>
            <a:off x="2057400" y="1057929"/>
            <a:ext cx="2209800" cy="277000"/>
            <a:chOff x="1600200" y="971549"/>
            <a:chExt cx="2209800" cy="277000"/>
          </a:xfrm>
          <a:solidFill>
            <a:schemeClr val="bg1">
              <a:lumMod val="85000"/>
            </a:schemeClr>
          </a:solidFill>
        </p:grpSpPr>
        <p:grpSp>
          <p:nvGrpSpPr>
            <p:cNvPr id="117" name="Group 62"/>
            <p:cNvGrpSpPr/>
            <p:nvPr/>
          </p:nvGrpSpPr>
          <p:grpSpPr>
            <a:xfrm>
              <a:off x="1600200" y="971549"/>
              <a:ext cx="2209800" cy="277000"/>
              <a:chOff x="3276600" y="1333498"/>
              <a:chExt cx="2209800" cy="277000"/>
            </a:xfrm>
            <a:grpFill/>
          </p:grpSpPr>
          <p:sp>
            <p:nvSpPr>
              <p:cNvPr id="119" name="TextBox 118"/>
              <p:cNvSpPr txBox="1"/>
              <p:nvPr/>
            </p:nvSpPr>
            <p:spPr>
              <a:xfrm>
                <a:off x="3276600" y="1333499"/>
                <a:ext cx="2209800" cy="276999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latin typeface="Arial" pitchFamily="34" charset="0"/>
                    <a:cs typeface="Arial" pitchFamily="34" charset="0"/>
                  </a:rPr>
                  <a:t>     ROC ID         0x10       SS</a:t>
                </a:r>
              </a:p>
            </p:txBody>
          </p:sp>
          <p:cxnSp>
            <p:nvCxnSpPr>
              <p:cNvPr id="120" name="Straight Connector 119"/>
              <p:cNvCxnSpPr/>
              <p:nvPr/>
            </p:nvCxnSpPr>
            <p:spPr>
              <a:xfrm rot="16200000" flipH="1">
                <a:off x="4243000" y="1471998"/>
                <a:ext cx="276999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8" name="Straight Connector 117"/>
            <p:cNvCxnSpPr/>
            <p:nvPr/>
          </p:nvCxnSpPr>
          <p:spPr>
            <a:xfrm rot="16200000" flipH="1">
              <a:off x="3138100" y="1110050"/>
              <a:ext cx="276999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1" name="Group 109"/>
          <p:cNvGrpSpPr/>
          <p:nvPr/>
        </p:nvGrpSpPr>
        <p:grpSpPr>
          <a:xfrm>
            <a:off x="2057400" y="1609605"/>
            <a:ext cx="2209800" cy="277000"/>
            <a:chOff x="1600200" y="971549"/>
            <a:chExt cx="2209800" cy="277000"/>
          </a:xfrm>
          <a:solidFill>
            <a:schemeClr val="accent1">
              <a:lumMod val="20000"/>
              <a:lumOff val="80000"/>
            </a:schemeClr>
          </a:solidFill>
        </p:grpSpPr>
        <p:grpSp>
          <p:nvGrpSpPr>
            <p:cNvPr id="122" name="Group 62"/>
            <p:cNvGrpSpPr/>
            <p:nvPr/>
          </p:nvGrpSpPr>
          <p:grpSpPr>
            <a:xfrm>
              <a:off x="1600200" y="971549"/>
              <a:ext cx="2209800" cy="277000"/>
              <a:chOff x="3276600" y="1333498"/>
              <a:chExt cx="2209800" cy="277000"/>
            </a:xfrm>
            <a:grpFill/>
          </p:grpSpPr>
          <p:sp>
            <p:nvSpPr>
              <p:cNvPr id="124" name="TextBox 123"/>
              <p:cNvSpPr txBox="1"/>
              <p:nvPr/>
            </p:nvSpPr>
            <p:spPr>
              <a:xfrm>
                <a:off x="3276600" y="1333499"/>
                <a:ext cx="2209800" cy="276999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latin typeface="Arial" pitchFamily="34" charset="0"/>
                    <a:cs typeface="Arial" pitchFamily="34" charset="0"/>
                  </a:rPr>
                  <a:t>     0xFF30         0x20       SS</a:t>
                </a:r>
              </a:p>
            </p:txBody>
          </p:sp>
          <p:cxnSp>
            <p:nvCxnSpPr>
              <p:cNvPr id="125" name="Straight Connector 124"/>
              <p:cNvCxnSpPr/>
              <p:nvPr/>
            </p:nvCxnSpPr>
            <p:spPr>
              <a:xfrm rot="16200000" flipH="1">
                <a:off x="4243000" y="1471998"/>
                <a:ext cx="276999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23" name="Straight Connector 122"/>
            <p:cNvCxnSpPr/>
            <p:nvPr/>
          </p:nvCxnSpPr>
          <p:spPr>
            <a:xfrm rot="16200000" flipH="1">
              <a:off x="3138100" y="1110050"/>
              <a:ext cx="276999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6" name="TextBox 125"/>
          <p:cNvSpPr txBox="1"/>
          <p:nvPr/>
        </p:nvSpPr>
        <p:spPr>
          <a:xfrm>
            <a:off x="2057400" y="5181600"/>
            <a:ext cx="2209800" cy="400110"/>
          </a:xfrm>
          <a:prstGeom prst="rect">
            <a:avLst/>
          </a:prstGeom>
          <a:noFill/>
          <a:ln>
            <a:noFill/>
            <a:prstDash val="dash"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cs typeface="Arial" pitchFamily="34" charset="0"/>
              </a:rPr>
              <a:t>…</a:t>
            </a:r>
          </a:p>
        </p:txBody>
      </p:sp>
      <p:grpSp>
        <p:nvGrpSpPr>
          <p:cNvPr id="127" name="Group 126"/>
          <p:cNvGrpSpPr/>
          <p:nvPr/>
        </p:nvGrpSpPr>
        <p:grpSpPr>
          <a:xfrm>
            <a:off x="2057400" y="1885950"/>
            <a:ext cx="2219325" cy="1104900"/>
            <a:chOff x="1447800" y="1885950"/>
            <a:chExt cx="2219325" cy="1104900"/>
          </a:xfrm>
        </p:grpSpPr>
        <p:sp>
          <p:nvSpPr>
            <p:cNvPr id="128" name="TextBox 127"/>
            <p:cNvSpPr txBox="1"/>
            <p:nvPr/>
          </p:nvSpPr>
          <p:spPr>
            <a:xfrm>
              <a:off x="1447800" y="2161401"/>
              <a:ext cx="2209800" cy="27699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Frame Number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1447800" y="2438400"/>
              <a:ext cx="2209800" cy="27699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Timestamp1 (31 – 0)</a:t>
              </a:r>
            </a:p>
          </p:txBody>
        </p:sp>
        <p:grpSp>
          <p:nvGrpSpPr>
            <p:cNvPr id="130" name="Group 122"/>
            <p:cNvGrpSpPr/>
            <p:nvPr/>
          </p:nvGrpSpPr>
          <p:grpSpPr>
            <a:xfrm>
              <a:off x="1447800" y="1885950"/>
              <a:ext cx="2209800" cy="277000"/>
              <a:chOff x="1600200" y="971549"/>
              <a:chExt cx="2209800" cy="277000"/>
            </a:xfrm>
          </p:grpSpPr>
          <p:grpSp>
            <p:nvGrpSpPr>
              <p:cNvPr id="132" name="Group 62"/>
              <p:cNvGrpSpPr/>
              <p:nvPr/>
            </p:nvGrpSpPr>
            <p:grpSpPr>
              <a:xfrm>
                <a:off x="1600200" y="971549"/>
                <a:ext cx="2209800" cy="277000"/>
                <a:chOff x="3276600" y="1333498"/>
                <a:chExt cx="2209800" cy="277000"/>
              </a:xfrm>
            </p:grpSpPr>
            <p:sp>
              <p:nvSpPr>
                <p:cNvPr id="134" name="TextBox 133"/>
                <p:cNvSpPr txBox="1"/>
                <p:nvPr/>
              </p:nvSpPr>
              <p:spPr>
                <a:xfrm>
                  <a:off x="3276600" y="1333499"/>
                  <a:ext cx="2209800" cy="276999"/>
                </a:xfrm>
                <a:prstGeom prst="rect">
                  <a:avLst/>
                </a:prstGeom>
                <a:solidFill>
                  <a:srgbClr val="FFFF00">
                    <a:alpha val="25000"/>
                  </a:srgbClr>
                </a:solidFill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dirty="0">
                      <a:latin typeface="Arial" pitchFamily="34" charset="0"/>
                      <a:cs typeface="Arial" pitchFamily="34" charset="0"/>
                    </a:rPr>
                    <a:t> 0x31     0x01       TSS Len</a:t>
                  </a:r>
                </a:p>
              </p:txBody>
            </p:sp>
            <p:cxnSp>
              <p:nvCxnSpPr>
                <p:cNvPr id="135" name="Straight Connector 134"/>
                <p:cNvCxnSpPr/>
                <p:nvPr/>
              </p:nvCxnSpPr>
              <p:spPr>
                <a:xfrm rot="16200000" flipH="1">
                  <a:off x="4243000" y="1471998"/>
                  <a:ext cx="27699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3" name="Straight Connector 132"/>
              <p:cNvCxnSpPr/>
              <p:nvPr/>
            </p:nvCxnSpPr>
            <p:spPr>
              <a:xfrm rot="16200000" flipH="1">
                <a:off x="1995100" y="1110050"/>
                <a:ext cx="276999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1" name="TextBox 130"/>
            <p:cNvSpPr txBox="1"/>
            <p:nvPr/>
          </p:nvSpPr>
          <p:spPr>
            <a:xfrm>
              <a:off x="1457325" y="2713851"/>
              <a:ext cx="2209800" cy="27699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Timestamp1 (63 – 32)</a:t>
              </a:r>
            </a:p>
          </p:txBody>
        </p:sp>
      </p:grpSp>
      <p:grpSp>
        <p:nvGrpSpPr>
          <p:cNvPr id="136" name="Group 135"/>
          <p:cNvGrpSpPr/>
          <p:nvPr/>
        </p:nvGrpSpPr>
        <p:grpSpPr>
          <a:xfrm>
            <a:off x="4826178" y="401419"/>
            <a:ext cx="3963362" cy="1649350"/>
            <a:chOff x="4648199" y="482648"/>
            <a:chExt cx="3963362" cy="1649350"/>
          </a:xfrm>
        </p:grpSpPr>
        <p:cxnSp>
          <p:nvCxnSpPr>
            <p:cNvPr id="137" name="Straight Connector 136"/>
            <p:cNvCxnSpPr/>
            <p:nvPr/>
          </p:nvCxnSpPr>
          <p:spPr>
            <a:xfrm>
              <a:off x="6515100" y="772180"/>
              <a:ext cx="0" cy="2580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>
              <a:stCxn id="129" idx="2"/>
            </p:cNvCxnSpPr>
            <p:nvPr/>
          </p:nvCxnSpPr>
          <p:spPr>
            <a:xfrm>
              <a:off x="5622695" y="759647"/>
              <a:ext cx="0" cy="2580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H="1">
              <a:off x="7315200" y="1052898"/>
              <a:ext cx="22859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" name="TextBox 139"/>
            <p:cNvSpPr txBox="1"/>
            <p:nvPr/>
          </p:nvSpPr>
          <p:spPr>
            <a:xfrm>
              <a:off x="6248400" y="484999"/>
              <a:ext cx="1066800" cy="276999"/>
            </a:xfrm>
            <a:prstGeom prst="rect">
              <a:avLst/>
            </a:prstGeom>
            <a:noFill/>
            <a:ln w="3175">
              <a:solidFill>
                <a:srgbClr val="0070C0"/>
              </a:solidFill>
              <a:prstDash val="lgDash"/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0070C0"/>
                  </a:solidFill>
                </a:rPr>
                <a:t>Bank of banks</a:t>
              </a: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7542835" y="936595"/>
              <a:ext cx="1068726" cy="276999"/>
            </a:xfrm>
            <a:prstGeom prst="rect">
              <a:avLst/>
            </a:prstGeom>
            <a:noFill/>
            <a:ln w="3175">
              <a:solidFill>
                <a:srgbClr val="0070C0"/>
              </a:solidFill>
              <a:prstDash val="lgDash"/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rgbClr val="0070C0"/>
                  </a:solidFill>
                </a:rPr>
                <a:t>Stream Status</a:t>
              </a:r>
              <a:endParaRPr lang="en-US" sz="1200" dirty="0">
                <a:solidFill>
                  <a:srgbClr val="0070C0"/>
                </a:solidFill>
              </a:endParaRP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5075220" y="482648"/>
              <a:ext cx="1094950" cy="276999"/>
            </a:xfrm>
            <a:prstGeom prst="rect">
              <a:avLst/>
            </a:prstGeom>
            <a:noFill/>
            <a:ln w="3175">
              <a:solidFill>
                <a:srgbClr val="0070C0"/>
              </a:solidFill>
              <a:prstDash val="lgDash"/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rgbClr val="0070C0"/>
                  </a:solidFill>
                </a:rPr>
                <a:t> 16 </a:t>
              </a:r>
              <a:r>
                <a:rPr lang="en-US" sz="1200" dirty="0">
                  <a:solidFill>
                    <a:srgbClr val="0070C0"/>
                  </a:solidFill>
                </a:rPr>
                <a:t>bit ROC  ID</a:t>
              </a:r>
            </a:p>
          </p:txBody>
        </p:sp>
        <p:grpSp>
          <p:nvGrpSpPr>
            <p:cNvPr id="143" name="Group 142"/>
            <p:cNvGrpSpPr/>
            <p:nvPr/>
          </p:nvGrpSpPr>
          <p:grpSpPr>
            <a:xfrm>
              <a:off x="5105400" y="914398"/>
              <a:ext cx="2209800" cy="276999"/>
              <a:chOff x="6096000" y="990600"/>
              <a:chExt cx="2209800" cy="276999"/>
            </a:xfrm>
            <a:solidFill>
              <a:schemeClr val="bg1"/>
            </a:solidFill>
          </p:grpSpPr>
          <p:grpSp>
            <p:nvGrpSpPr>
              <p:cNvPr id="153" name="Group 152"/>
              <p:cNvGrpSpPr/>
              <p:nvPr/>
            </p:nvGrpSpPr>
            <p:grpSpPr>
              <a:xfrm>
                <a:off x="6096000" y="990600"/>
                <a:ext cx="2209800" cy="276999"/>
                <a:chOff x="6248400" y="1066800"/>
                <a:chExt cx="2209800" cy="276999"/>
              </a:xfrm>
              <a:grpFill/>
            </p:grpSpPr>
            <p:sp>
              <p:nvSpPr>
                <p:cNvPr id="155" name="TextBox 154"/>
                <p:cNvSpPr txBox="1"/>
                <p:nvPr/>
              </p:nvSpPr>
              <p:spPr>
                <a:xfrm>
                  <a:off x="6248400" y="1066800"/>
                  <a:ext cx="2209800" cy="276999"/>
                </a:xfrm>
                <a:prstGeom prst="rect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dirty="0">
                      <a:latin typeface="Arial" pitchFamily="34" charset="0"/>
                      <a:cs typeface="Arial" pitchFamily="34" charset="0"/>
                    </a:rPr>
                    <a:t>     ROC ID        0x10       SS</a:t>
                  </a:r>
                </a:p>
              </p:txBody>
            </p:sp>
            <p:cxnSp>
              <p:nvCxnSpPr>
                <p:cNvPr id="156" name="Straight Connector 155"/>
                <p:cNvCxnSpPr/>
                <p:nvPr/>
              </p:nvCxnSpPr>
              <p:spPr>
                <a:xfrm rot="16200000" flipH="1">
                  <a:off x="7786300" y="1205300"/>
                  <a:ext cx="276999" cy="0"/>
                </a:xfrm>
                <a:prstGeom prst="lin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4" name="Straight Connector 153"/>
              <p:cNvCxnSpPr/>
              <p:nvPr/>
            </p:nvCxnSpPr>
            <p:spPr>
              <a:xfrm rot="16200000" flipH="1">
                <a:off x="7024300" y="1129100"/>
                <a:ext cx="276999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4" name="Straight Connector 143"/>
            <p:cNvCxnSpPr/>
            <p:nvPr/>
          </p:nvCxnSpPr>
          <p:spPr>
            <a:xfrm flipH="1">
              <a:off x="4648201" y="1194736"/>
              <a:ext cx="2114870" cy="28596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/>
            <p:cNvCxnSpPr/>
            <p:nvPr/>
          </p:nvCxnSpPr>
          <p:spPr>
            <a:xfrm>
              <a:off x="7315200" y="1179487"/>
              <a:ext cx="228598" cy="33076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146" name="Group 145"/>
            <p:cNvGrpSpPr/>
            <p:nvPr/>
          </p:nvGrpSpPr>
          <p:grpSpPr>
            <a:xfrm>
              <a:off x="4648199" y="1510255"/>
              <a:ext cx="2895600" cy="289299"/>
              <a:chOff x="4648199" y="1510255"/>
              <a:chExt cx="2895600" cy="289299"/>
            </a:xfrm>
          </p:grpSpPr>
          <p:grpSp>
            <p:nvGrpSpPr>
              <p:cNvPr id="149" name="Group 148"/>
              <p:cNvGrpSpPr/>
              <p:nvPr/>
            </p:nvGrpSpPr>
            <p:grpSpPr>
              <a:xfrm>
                <a:off x="4648199" y="1510255"/>
                <a:ext cx="2895600" cy="277000"/>
                <a:chOff x="5562600" y="1600200"/>
                <a:chExt cx="1524000" cy="277000"/>
              </a:xfrm>
            </p:grpSpPr>
            <p:sp>
              <p:nvSpPr>
                <p:cNvPr id="151" name="TextBox 150"/>
                <p:cNvSpPr txBox="1"/>
                <p:nvPr/>
              </p:nvSpPr>
              <p:spPr>
                <a:xfrm>
                  <a:off x="5562600" y="1600201"/>
                  <a:ext cx="1524000" cy="276999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dirty="0">
                      <a:latin typeface="Arial" pitchFamily="34" charset="0"/>
                      <a:cs typeface="Arial" pitchFamily="34" charset="0"/>
                    </a:rPr>
                    <a:t>      Total </a:t>
                  </a:r>
                  <a:r>
                    <a:rPr lang="en-US" sz="1200" b="1">
                      <a:latin typeface="Arial" pitchFamily="34" charset="0"/>
                      <a:cs typeface="Arial" pitchFamily="34" charset="0"/>
                    </a:rPr>
                    <a:t>Streams         </a:t>
                  </a:r>
                  <a:r>
                    <a:rPr lang="en-US" sz="1200" b="1" dirty="0">
                      <a:latin typeface="Arial" pitchFamily="34" charset="0"/>
                      <a:cs typeface="Arial" pitchFamily="34" charset="0"/>
                    </a:rPr>
                    <a:t>Stream Mask</a:t>
                  </a:r>
                </a:p>
              </p:txBody>
            </p:sp>
            <p:cxnSp>
              <p:nvCxnSpPr>
                <p:cNvPr id="152" name="Straight Connector 151"/>
                <p:cNvCxnSpPr/>
                <p:nvPr/>
              </p:nvCxnSpPr>
              <p:spPr>
                <a:xfrm rot="16200000" flipH="1">
                  <a:off x="6186100" y="1738700"/>
                  <a:ext cx="27699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0" name="Straight Connector 149"/>
              <p:cNvCxnSpPr/>
              <p:nvPr/>
            </p:nvCxnSpPr>
            <p:spPr>
              <a:xfrm rot="16200000" flipH="1">
                <a:off x="4733163" y="1661055"/>
                <a:ext cx="276999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7" name="TextBox 146"/>
            <p:cNvSpPr txBox="1"/>
            <p:nvPr/>
          </p:nvSpPr>
          <p:spPr>
            <a:xfrm>
              <a:off x="5088918" y="1849554"/>
              <a:ext cx="725129" cy="276999"/>
            </a:xfrm>
            <a:prstGeom prst="rect">
              <a:avLst/>
            </a:prstGeom>
            <a:noFill/>
            <a:ln w="3175">
              <a:solidFill>
                <a:srgbClr val="0070C0"/>
              </a:solidFill>
              <a:prstDash val="lgDash"/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0070C0"/>
                  </a:solidFill>
                </a:rPr>
                <a:t>Bits 6 - 4</a:t>
              </a:r>
            </a:p>
          </p:txBody>
        </p:sp>
        <p:sp>
          <p:nvSpPr>
            <p:cNvPr id="148" name="TextBox 147"/>
            <p:cNvSpPr txBox="1"/>
            <p:nvPr/>
          </p:nvSpPr>
          <p:spPr>
            <a:xfrm>
              <a:off x="6395662" y="1854999"/>
              <a:ext cx="762002" cy="276999"/>
            </a:xfrm>
            <a:prstGeom prst="rect">
              <a:avLst/>
            </a:prstGeom>
            <a:noFill/>
            <a:ln w="3175">
              <a:solidFill>
                <a:srgbClr val="0070C0"/>
              </a:solidFill>
              <a:prstDash val="lgDash"/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0070C0"/>
                  </a:solidFill>
                </a:rPr>
                <a:t>Bits 3 - 0</a:t>
              </a:r>
            </a:p>
          </p:txBody>
        </p:sp>
      </p:grpSp>
      <p:grpSp>
        <p:nvGrpSpPr>
          <p:cNvPr id="157" name="Group 156"/>
          <p:cNvGrpSpPr/>
          <p:nvPr/>
        </p:nvGrpSpPr>
        <p:grpSpPr>
          <a:xfrm>
            <a:off x="2057400" y="2991239"/>
            <a:ext cx="2219325" cy="1104900"/>
            <a:chOff x="1447800" y="1885950"/>
            <a:chExt cx="2219325" cy="1104900"/>
          </a:xfrm>
        </p:grpSpPr>
        <p:sp>
          <p:nvSpPr>
            <p:cNvPr id="158" name="TextBox 157"/>
            <p:cNvSpPr txBox="1"/>
            <p:nvPr/>
          </p:nvSpPr>
          <p:spPr>
            <a:xfrm>
              <a:off x="1447800" y="2161401"/>
              <a:ext cx="2209800" cy="27699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Arial" pitchFamily="34" charset="0"/>
                  <a:cs typeface="Arial" pitchFamily="34" charset="0"/>
                </a:rPr>
                <a:t>  Payload 2         Payload 1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1447800" y="2438400"/>
              <a:ext cx="2209800" cy="27699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Arial" pitchFamily="34" charset="0"/>
                  <a:cs typeface="Arial" pitchFamily="34" charset="0"/>
                </a:rPr>
                <a:t>         </a:t>
              </a:r>
              <a:r>
                <a:rPr lang="mr-IN" sz="1200" b="1" dirty="0">
                  <a:latin typeface="Arial" pitchFamily="34" charset="0"/>
                  <a:cs typeface="Arial" pitchFamily="34" charset="0"/>
                </a:rPr>
                <a:t>…</a:t>
              </a:r>
              <a:r>
                <a:rPr lang="en-US" sz="1200" b="1" dirty="0">
                  <a:latin typeface="Arial" pitchFamily="34" charset="0"/>
                  <a:cs typeface="Arial" pitchFamily="34" charset="0"/>
                </a:rPr>
                <a:t>                    </a:t>
              </a:r>
              <a:r>
                <a:rPr lang="mr-IN" sz="1200" b="1" dirty="0">
                  <a:latin typeface="Arial" pitchFamily="34" charset="0"/>
                  <a:cs typeface="Arial" pitchFamily="34" charset="0"/>
                </a:rPr>
                <a:t>…</a:t>
              </a:r>
              <a:endParaRPr lang="en-US" sz="1200" b="1" dirty="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160" name="Group 122"/>
            <p:cNvGrpSpPr/>
            <p:nvPr/>
          </p:nvGrpSpPr>
          <p:grpSpPr>
            <a:xfrm>
              <a:off x="1447800" y="1885950"/>
              <a:ext cx="2209800" cy="277000"/>
              <a:chOff x="1600200" y="971549"/>
              <a:chExt cx="2209800" cy="277000"/>
            </a:xfrm>
          </p:grpSpPr>
          <p:grpSp>
            <p:nvGrpSpPr>
              <p:cNvPr id="162" name="Group 62"/>
              <p:cNvGrpSpPr/>
              <p:nvPr/>
            </p:nvGrpSpPr>
            <p:grpSpPr>
              <a:xfrm>
                <a:off x="1600200" y="971549"/>
                <a:ext cx="2209800" cy="277000"/>
                <a:chOff x="3276600" y="1333498"/>
                <a:chExt cx="2209800" cy="277000"/>
              </a:xfrm>
            </p:grpSpPr>
            <p:sp>
              <p:nvSpPr>
                <p:cNvPr id="164" name="TextBox 163"/>
                <p:cNvSpPr txBox="1"/>
                <p:nvPr/>
              </p:nvSpPr>
              <p:spPr>
                <a:xfrm>
                  <a:off x="3276600" y="1333499"/>
                  <a:ext cx="2209800" cy="276999"/>
                </a:xfrm>
                <a:prstGeom prst="rect">
                  <a:avLst/>
                </a:prstGeom>
                <a:solidFill>
                  <a:srgbClr val="FFFF00">
                    <a:alpha val="24000"/>
                  </a:srgbClr>
                </a:solidFill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dirty="0">
                      <a:latin typeface="Arial" pitchFamily="34" charset="0"/>
                      <a:cs typeface="Arial" pitchFamily="34" charset="0"/>
                    </a:rPr>
                    <a:t> 0x41     0x85       AIS Len</a:t>
                  </a:r>
                </a:p>
              </p:txBody>
            </p:sp>
            <p:cxnSp>
              <p:nvCxnSpPr>
                <p:cNvPr id="165" name="Straight Connector 164"/>
                <p:cNvCxnSpPr/>
                <p:nvPr/>
              </p:nvCxnSpPr>
              <p:spPr>
                <a:xfrm rot="16200000" flipH="1">
                  <a:off x="4243000" y="1471998"/>
                  <a:ext cx="276999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3" name="Straight Connector 162"/>
              <p:cNvCxnSpPr/>
              <p:nvPr/>
            </p:nvCxnSpPr>
            <p:spPr>
              <a:xfrm rot="16200000" flipH="1">
                <a:off x="1995100" y="1110050"/>
                <a:ext cx="276999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1" name="TextBox 160"/>
            <p:cNvSpPr txBox="1"/>
            <p:nvPr/>
          </p:nvSpPr>
          <p:spPr>
            <a:xfrm>
              <a:off x="1457325" y="2713851"/>
              <a:ext cx="2209800" cy="27699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latin typeface="Arial" pitchFamily="34" charset="0"/>
                  <a:cs typeface="Arial" pitchFamily="34" charset="0"/>
                </a:rPr>
                <a:t>          0               Payload N     </a:t>
              </a:r>
            </a:p>
          </p:txBody>
        </p:sp>
      </p:grpSp>
      <p:cxnSp>
        <p:nvCxnSpPr>
          <p:cNvPr id="166" name="Straight Connector 165"/>
          <p:cNvCxnSpPr/>
          <p:nvPr/>
        </p:nvCxnSpPr>
        <p:spPr>
          <a:xfrm rot="16200000" flipH="1">
            <a:off x="3023800" y="3405190"/>
            <a:ext cx="27699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/>
          <p:cNvCxnSpPr/>
          <p:nvPr/>
        </p:nvCxnSpPr>
        <p:spPr>
          <a:xfrm rot="16200000" flipH="1">
            <a:off x="3023800" y="3680641"/>
            <a:ext cx="27699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Connector 167"/>
          <p:cNvCxnSpPr/>
          <p:nvPr/>
        </p:nvCxnSpPr>
        <p:spPr>
          <a:xfrm rot="16200000" flipH="1">
            <a:off x="3023800" y="3957640"/>
            <a:ext cx="27699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9" name="Group 168"/>
          <p:cNvGrpSpPr/>
          <p:nvPr/>
        </p:nvGrpSpPr>
        <p:grpSpPr>
          <a:xfrm>
            <a:off x="2057399" y="4098845"/>
            <a:ext cx="2209800" cy="552450"/>
            <a:chOff x="1447799" y="4098845"/>
            <a:chExt cx="2209800" cy="552450"/>
          </a:xfrm>
        </p:grpSpPr>
        <p:sp>
          <p:nvSpPr>
            <p:cNvPr id="170" name="TextBox 169"/>
            <p:cNvSpPr txBox="1"/>
            <p:nvPr/>
          </p:nvSpPr>
          <p:spPr>
            <a:xfrm>
              <a:off x="1447799" y="4098845"/>
              <a:ext cx="2209800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Payload Port 1 Length</a:t>
              </a:r>
            </a:p>
          </p:txBody>
        </p:sp>
        <p:grpSp>
          <p:nvGrpSpPr>
            <p:cNvPr id="171" name="Group 109"/>
            <p:cNvGrpSpPr/>
            <p:nvPr/>
          </p:nvGrpSpPr>
          <p:grpSpPr>
            <a:xfrm>
              <a:off x="1447799" y="4374295"/>
              <a:ext cx="2209800" cy="277000"/>
              <a:chOff x="1600200" y="971549"/>
              <a:chExt cx="2209800" cy="277000"/>
            </a:xfrm>
            <a:solidFill>
              <a:schemeClr val="accent1">
                <a:lumMod val="20000"/>
                <a:lumOff val="80000"/>
              </a:schemeClr>
            </a:solidFill>
          </p:grpSpPr>
          <p:grpSp>
            <p:nvGrpSpPr>
              <p:cNvPr id="172" name="Group 62"/>
              <p:cNvGrpSpPr/>
              <p:nvPr/>
            </p:nvGrpSpPr>
            <p:grpSpPr>
              <a:xfrm>
                <a:off x="1600200" y="971549"/>
                <a:ext cx="2209800" cy="277000"/>
                <a:chOff x="3276600" y="1333498"/>
                <a:chExt cx="2209800" cy="277000"/>
              </a:xfrm>
              <a:grpFill/>
            </p:grpSpPr>
            <p:sp>
              <p:nvSpPr>
                <p:cNvPr id="174" name="TextBox 173"/>
                <p:cNvSpPr txBox="1"/>
                <p:nvPr/>
              </p:nvSpPr>
              <p:spPr>
                <a:xfrm>
                  <a:off x="3276600" y="1333499"/>
                  <a:ext cx="2209800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dirty="0">
                      <a:latin typeface="Arial" pitchFamily="34" charset="0"/>
                      <a:cs typeface="Arial" pitchFamily="34" charset="0"/>
                    </a:rPr>
                    <a:t>     PP 1 ID          0xf        SS</a:t>
                  </a:r>
                </a:p>
              </p:txBody>
            </p:sp>
            <p:cxnSp>
              <p:nvCxnSpPr>
                <p:cNvPr id="175" name="Straight Connector 174"/>
                <p:cNvCxnSpPr/>
                <p:nvPr/>
              </p:nvCxnSpPr>
              <p:spPr>
                <a:xfrm rot="16200000" flipH="1">
                  <a:off x="4243000" y="1471998"/>
                  <a:ext cx="276999" cy="0"/>
                </a:xfrm>
                <a:prstGeom prst="lin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73" name="Straight Connector 172"/>
              <p:cNvCxnSpPr/>
              <p:nvPr/>
            </p:nvCxnSpPr>
            <p:spPr>
              <a:xfrm rot="16200000" flipH="1">
                <a:off x="3138100" y="1110050"/>
                <a:ext cx="276999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76" name="Group 175"/>
          <p:cNvGrpSpPr/>
          <p:nvPr/>
        </p:nvGrpSpPr>
        <p:grpSpPr>
          <a:xfrm>
            <a:off x="2057396" y="5548647"/>
            <a:ext cx="2209800" cy="552450"/>
            <a:chOff x="1447799" y="4098845"/>
            <a:chExt cx="2209800" cy="552450"/>
          </a:xfrm>
        </p:grpSpPr>
        <p:sp>
          <p:nvSpPr>
            <p:cNvPr id="177" name="TextBox 176"/>
            <p:cNvSpPr txBox="1"/>
            <p:nvPr/>
          </p:nvSpPr>
          <p:spPr>
            <a:xfrm>
              <a:off x="1447799" y="4098845"/>
              <a:ext cx="2209800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Payload Port N Length</a:t>
              </a:r>
            </a:p>
          </p:txBody>
        </p:sp>
        <p:grpSp>
          <p:nvGrpSpPr>
            <p:cNvPr id="178" name="Group 109"/>
            <p:cNvGrpSpPr/>
            <p:nvPr/>
          </p:nvGrpSpPr>
          <p:grpSpPr>
            <a:xfrm>
              <a:off x="1447799" y="4374295"/>
              <a:ext cx="2209800" cy="277000"/>
              <a:chOff x="1600200" y="971549"/>
              <a:chExt cx="2209800" cy="277000"/>
            </a:xfrm>
            <a:solidFill>
              <a:schemeClr val="accent1">
                <a:lumMod val="20000"/>
                <a:lumOff val="80000"/>
              </a:schemeClr>
            </a:solidFill>
          </p:grpSpPr>
          <p:grpSp>
            <p:nvGrpSpPr>
              <p:cNvPr id="179" name="Group 62"/>
              <p:cNvGrpSpPr/>
              <p:nvPr/>
            </p:nvGrpSpPr>
            <p:grpSpPr>
              <a:xfrm>
                <a:off x="1600200" y="971549"/>
                <a:ext cx="2209800" cy="277000"/>
                <a:chOff x="3276600" y="1333498"/>
                <a:chExt cx="2209800" cy="277000"/>
              </a:xfrm>
              <a:grpFill/>
            </p:grpSpPr>
            <p:sp>
              <p:nvSpPr>
                <p:cNvPr id="181" name="TextBox 180"/>
                <p:cNvSpPr txBox="1"/>
                <p:nvPr/>
              </p:nvSpPr>
              <p:spPr>
                <a:xfrm>
                  <a:off x="3276600" y="1333499"/>
                  <a:ext cx="2209800" cy="276999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dirty="0">
                      <a:latin typeface="Arial" pitchFamily="34" charset="0"/>
                      <a:cs typeface="Arial" pitchFamily="34" charset="0"/>
                    </a:rPr>
                    <a:t>     PP N ID          0xf        SS</a:t>
                  </a:r>
                </a:p>
              </p:txBody>
            </p:sp>
            <p:cxnSp>
              <p:nvCxnSpPr>
                <p:cNvPr id="182" name="Straight Connector 181"/>
                <p:cNvCxnSpPr/>
                <p:nvPr/>
              </p:nvCxnSpPr>
              <p:spPr>
                <a:xfrm rot="16200000" flipH="1">
                  <a:off x="4243000" y="1471998"/>
                  <a:ext cx="276999" cy="0"/>
                </a:xfrm>
                <a:prstGeom prst="lin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0" name="Straight Connector 179"/>
              <p:cNvCxnSpPr/>
              <p:nvPr/>
            </p:nvCxnSpPr>
            <p:spPr>
              <a:xfrm rot="16200000" flipH="1">
                <a:off x="3138100" y="1110050"/>
                <a:ext cx="276999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83" name="TextBox 182"/>
          <p:cNvSpPr txBox="1"/>
          <p:nvPr/>
        </p:nvSpPr>
        <p:spPr>
          <a:xfrm>
            <a:off x="2057398" y="6106181"/>
            <a:ext cx="2209800" cy="5232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8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1200" b="1" dirty="0">
                <a:latin typeface="Arial" pitchFamily="34" charset="0"/>
                <a:cs typeface="Arial" pitchFamily="34" charset="0"/>
              </a:rPr>
              <a:t>PP N Data</a:t>
            </a:r>
          </a:p>
          <a:p>
            <a:pPr algn="ctr"/>
            <a:endParaRPr lang="en-US" sz="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4" name="Left Brace 183"/>
          <p:cNvSpPr/>
          <p:nvPr/>
        </p:nvSpPr>
        <p:spPr>
          <a:xfrm flipH="1">
            <a:off x="4379893" y="2999047"/>
            <a:ext cx="304800" cy="1097092"/>
          </a:xfrm>
          <a:prstGeom prst="leftBrace">
            <a:avLst>
              <a:gd name="adj1" fmla="val 42708"/>
              <a:gd name="adj2" fmla="val 76222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5" name="TextBox 184"/>
          <p:cNvSpPr txBox="1"/>
          <p:nvPr/>
        </p:nvSpPr>
        <p:spPr>
          <a:xfrm>
            <a:off x="4707011" y="2314074"/>
            <a:ext cx="1884288" cy="276999"/>
          </a:xfrm>
          <a:prstGeom prst="rect">
            <a:avLst/>
          </a:prstGeom>
          <a:noFill/>
          <a:ln w="3175">
            <a:solidFill>
              <a:srgbClr val="0070C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0070C0"/>
                </a:solidFill>
              </a:rPr>
              <a:t>Time Slice Segment (TSS)</a:t>
            </a:r>
            <a:endParaRPr lang="en-US" sz="1200" dirty="0">
              <a:solidFill>
                <a:srgbClr val="0070C0"/>
              </a:solidFill>
            </a:endParaRPr>
          </a:p>
        </p:txBody>
      </p:sp>
      <p:sp>
        <p:nvSpPr>
          <p:cNvPr id="186" name="TextBox 185"/>
          <p:cNvSpPr txBox="1"/>
          <p:nvPr/>
        </p:nvSpPr>
        <p:spPr>
          <a:xfrm>
            <a:off x="2057395" y="257845"/>
            <a:ext cx="2209800" cy="5232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8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1200" b="1" dirty="0">
                <a:latin typeface="Arial" pitchFamily="34" charset="0"/>
                <a:cs typeface="Arial" pitchFamily="34" charset="0"/>
              </a:rPr>
              <a:t>EVIO HEADER</a:t>
            </a:r>
          </a:p>
          <a:p>
            <a:pPr algn="ctr"/>
            <a:endParaRPr lang="en-US" sz="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7" name="Left Brace 186"/>
          <p:cNvSpPr/>
          <p:nvPr/>
        </p:nvSpPr>
        <p:spPr>
          <a:xfrm>
            <a:off x="616663" y="817388"/>
            <a:ext cx="304800" cy="5812012"/>
          </a:xfrm>
          <a:prstGeom prst="leftBrace">
            <a:avLst>
              <a:gd name="adj1" fmla="val 6458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 b="1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88" name="Group 187"/>
          <p:cNvGrpSpPr/>
          <p:nvPr/>
        </p:nvGrpSpPr>
        <p:grpSpPr>
          <a:xfrm>
            <a:off x="4707011" y="3619677"/>
            <a:ext cx="3979790" cy="1384995"/>
            <a:chOff x="4707010" y="3415345"/>
            <a:chExt cx="3979790" cy="1384995"/>
          </a:xfrm>
        </p:grpSpPr>
        <p:sp>
          <p:nvSpPr>
            <p:cNvPr id="189" name="TextBox 188"/>
            <p:cNvSpPr txBox="1"/>
            <p:nvPr/>
          </p:nvSpPr>
          <p:spPr>
            <a:xfrm>
              <a:off x="4707010" y="3415345"/>
              <a:ext cx="3979790" cy="1384995"/>
            </a:xfrm>
            <a:prstGeom prst="rect">
              <a:avLst/>
            </a:prstGeom>
            <a:noFill/>
            <a:ln w="3175">
              <a:solidFill>
                <a:srgbClr val="0070C0"/>
              </a:solidFill>
              <a:prstDash val="lgDash"/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0070C0"/>
                  </a:solidFill>
                </a:rPr>
                <a:t>Aggregation Info Segment (AIS)</a:t>
              </a:r>
            </a:p>
            <a:p>
              <a:endParaRPr lang="en-US" sz="1200" dirty="0">
                <a:solidFill>
                  <a:srgbClr val="0070C0"/>
                </a:solidFill>
              </a:endParaRPr>
            </a:p>
            <a:p>
              <a:endParaRPr lang="en-US" sz="1200" dirty="0">
                <a:solidFill>
                  <a:srgbClr val="0070C0"/>
                </a:solidFill>
              </a:endParaRPr>
            </a:p>
            <a:p>
              <a:endParaRPr lang="en-US" sz="1200" dirty="0">
                <a:solidFill>
                  <a:srgbClr val="0070C0"/>
                </a:solidFill>
              </a:endParaRPr>
            </a:p>
            <a:p>
              <a:endParaRPr lang="en-US" sz="1200" dirty="0">
                <a:solidFill>
                  <a:srgbClr val="0070C0"/>
                </a:solidFill>
              </a:endParaRPr>
            </a:p>
            <a:p>
              <a:endParaRPr lang="en-US" sz="1200" dirty="0">
                <a:solidFill>
                  <a:srgbClr val="0070C0"/>
                </a:solidFill>
              </a:endParaRPr>
            </a:p>
            <a:p>
              <a:r>
                <a:rPr lang="en-US" sz="1200" dirty="0">
                  <a:solidFill>
                    <a:srgbClr val="0070C0"/>
                  </a:solidFill>
                </a:rPr>
                <a:t>N &lt;= 20</a:t>
              </a:r>
            </a:p>
          </p:txBody>
        </p:sp>
        <p:sp>
          <p:nvSpPr>
            <p:cNvPr id="190" name="TextBox 189"/>
            <p:cNvSpPr txBox="1"/>
            <p:nvPr/>
          </p:nvSpPr>
          <p:spPr>
            <a:xfrm>
              <a:off x="5130980" y="3798741"/>
              <a:ext cx="3251020" cy="26161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latin typeface="Arial" pitchFamily="34" charset="0"/>
                  <a:cs typeface="Arial" pitchFamily="34" charset="0"/>
                </a:rPr>
                <a:t> Module ID     Bond?  Lane ID    Payload Port #</a:t>
              </a:r>
            </a:p>
          </p:txBody>
        </p:sp>
        <p:cxnSp>
          <p:nvCxnSpPr>
            <p:cNvPr id="191" name="Straight Connector 190"/>
            <p:cNvCxnSpPr/>
            <p:nvPr/>
          </p:nvCxnSpPr>
          <p:spPr>
            <a:xfrm>
              <a:off x="7188167" y="3798739"/>
              <a:ext cx="0" cy="2616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/>
            <p:cNvCxnSpPr/>
            <p:nvPr/>
          </p:nvCxnSpPr>
          <p:spPr>
            <a:xfrm>
              <a:off x="6584987" y="3798741"/>
              <a:ext cx="0" cy="2616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/>
            <p:cNvCxnSpPr/>
            <p:nvPr/>
          </p:nvCxnSpPr>
          <p:spPr>
            <a:xfrm>
              <a:off x="6019801" y="3798739"/>
              <a:ext cx="0" cy="26161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4" name="TextBox 193"/>
            <p:cNvSpPr txBox="1"/>
            <p:nvPr/>
          </p:nvSpPr>
          <p:spPr>
            <a:xfrm>
              <a:off x="7511255" y="4131184"/>
              <a:ext cx="762002" cy="276999"/>
            </a:xfrm>
            <a:prstGeom prst="rect">
              <a:avLst/>
            </a:prstGeom>
            <a:noFill/>
            <a:ln w="3175">
              <a:solidFill>
                <a:srgbClr val="0070C0"/>
              </a:solidFill>
              <a:prstDash val="lgDash"/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0070C0"/>
                  </a:solidFill>
                </a:rPr>
                <a:t>Bits 4 - 0</a:t>
              </a:r>
            </a:p>
          </p:txBody>
        </p:sp>
        <p:sp>
          <p:nvSpPr>
            <p:cNvPr id="195" name="TextBox 194"/>
            <p:cNvSpPr txBox="1"/>
            <p:nvPr/>
          </p:nvSpPr>
          <p:spPr>
            <a:xfrm>
              <a:off x="6653490" y="4131184"/>
              <a:ext cx="739523" cy="276999"/>
            </a:xfrm>
            <a:prstGeom prst="rect">
              <a:avLst/>
            </a:prstGeom>
            <a:noFill/>
            <a:ln w="3175">
              <a:solidFill>
                <a:srgbClr val="0070C0"/>
              </a:solidFill>
              <a:prstDash val="lgDash"/>
            </a:ln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0070C0"/>
                  </a:solidFill>
                </a:rPr>
                <a:t>Bits 6 , 5</a:t>
              </a:r>
            </a:p>
          </p:txBody>
        </p:sp>
        <p:sp>
          <p:nvSpPr>
            <p:cNvPr id="196" name="TextBox 195"/>
            <p:cNvSpPr txBox="1"/>
            <p:nvPr/>
          </p:nvSpPr>
          <p:spPr>
            <a:xfrm>
              <a:off x="6039949" y="4131184"/>
              <a:ext cx="495299" cy="276999"/>
            </a:xfrm>
            <a:prstGeom prst="rect">
              <a:avLst/>
            </a:prstGeom>
            <a:noFill/>
            <a:ln w="3175">
              <a:solidFill>
                <a:srgbClr val="0070C0"/>
              </a:solidFill>
              <a:prstDash val="lgDash"/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rgbClr val="0070C0"/>
                  </a:solidFill>
                </a:rPr>
                <a:t>Bit 7</a:t>
              </a:r>
              <a:endParaRPr lang="en-US" sz="1200" dirty="0">
                <a:solidFill>
                  <a:srgbClr val="0070C0"/>
                </a:solidFill>
              </a:endParaRPr>
            </a:p>
          </p:txBody>
        </p:sp>
        <p:sp>
          <p:nvSpPr>
            <p:cNvPr id="197" name="TextBox 196"/>
            <p:cNvSpPr txBox="1"/>
            <p:nvPr/>
          </p:nvSpPr>
          <p:spPr>
            <a:xfrm>
              <a:off x="5114498" y="4131184"/>
              <a:ext cx="807209" cy="276999"/>
            </a:xfrm>
            <a:prstGeom prst="rect">
              <a:avLst/>
            </a:prstGeom>
            <a:noFill/>
            <a:ln w="3175">
              <a:solidFill>
                <a:srgbClr val="0070C0"/>
              </a:solidFill>
              <a:prstDash val="lgDash"/>
            </a:ln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rgbClr val="0070C0"/>
                  </a:solidFill>
                </a:rPr>
                <a:t>Bits 11 - </a:t>
              </a:r>
              <a:r>
                <a:rPr lang="en-US" sz="1200" dirty="0">
                  <a:solidFill>
                    <a:srgbClr val="0070C0"/>
                  </a:solidFill>
                </a:rPr>
                <a:t>8</a:t>
              </a:r>
            </a:p>
          </p:txBody>
        </p:sp>
      </p:grpSp>
      <p:cxnSp>
        <p:nvCxnSpPr>
          <p:cNvPr id="198" name="Straight Arrow Connector 197"/>
          <p:cNvCxnSpPr/>
          <p:nvPr/>
        </p:nvCxnSpPr>
        <p:spPr>
          <a:xfrm flipV="1">
            <a:off x="4267195" y="3120774"/>
            <a:ext cx="811517" cy="5650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TextBox 198"/>
          <p:cNvSpPr txBox="1"/>
          <p:nvPr/>
        </p:nvSpPr>
        <p:spPr>
          <a:xfrm>
            <a:off x="5073293" y="2797608"/>
            <a:ext cx="3307854" cy="646331"/>
          </a:xfrm>
          <a:prstGeom prst="rect">
            <a:avLst/>
          </a:prstGeom>
          <a:noFill/>
          <a:ln w="3175">
            <a:solidFill>
              <a:srgbClr val="0070C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2</a:t>
            </a:r>
            <a:r>
              <a:rPr lang="en-US" sz="1200" baseline="30000" dirty="0">
                <a:solidFill>
                  <a:srgbClr val="0070C0"/>
                </a:solidFill>
              </a:rPr>
              <a:t>nd</a:t>
            </a:r>
            <a:r>
              <a:rPr lang="en-US" sz="1200" dirty="0">
                <a:solidFill>
                  <a:srgbClr val="0070C0"/>
                </a:solidFill>
              </a:rPr>
              <a:t> byte: top 2 bits = 2 for padding if odd # payloads (else 0), lower 6 bits is type 5 (unsigned short) =&gt; 0x85 (1000 0101)</a:t>
            </a:r>
          </a:p>
        </p:txBody>
      </p:sp>
    </p:spTree>
    <p:extLst>
      <p:ext uri="{BB962C8B-B14F-4D97-AF65-F5344CB8AC3E}">
        <p14:creationId xmlns:p14="http://schemas.microsoft.com/office/powerpoint/2010/main" val="1634901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/>
          <p:cNvCxnSpPr/>
          <p:nvPr/>
        </p:nvCxnSpPr>
        <p:spPr>
          <a:xfrm>
            <a:off x="4195979" y="2250991"/>
            <a:ext cx="1031914" cy="88"/>
          </a:xfrm>
          <a:prstGeom prst="straightConnector1">
            <a:avLst/>
          </a:prstGeom>
          <a:ln w="127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00559" y="1902940"/>
            <a:ext cx="838200" cy="338554"/>
          </a:xfrm>
          <a:prstGeom prst="rect">
            <a:avLst/>
          </a:prstGeom>
          <a:noFill/>
          <a:ln>
            <a:noFill/>
            <a:prstDash val="dash"/>
          </a:ln>
          <a:effectLst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Header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8728" y="2793000"/>
            <a:ext cx="1201862" cy="584775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Time Info</a:t>
            </a:r>
          </a:p>
          <a:p>
            <a:pPr algn="ctr"/>
            <a:r>
              <a:rPr lang="en-US" sz="1600" dirty="0">
                <a:solidFill>
                  <a:srgbClr val="0070C0"/>
                </a:solidFill>
              </a:rPr>
              <a:t>Bank (TIB)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8728" y="4210938"/>
            <a:ext cx="1111220" cy="584775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0070C0"/>
                </a:solidFill>
              </a:rPr>
              <a:t>ROC </a:t>
            </a:r>
            <a:r>
              <a:rPr lang="en-US" sz="1600">
                <a:solidFill>
                  <a:srgbClr val="0070C0"/>
                </a:solidFill>
              </a:rPr>
              <a:t>Time Slice Banks</a:t>
            </a:r>
            <a:endParaRPr lang="en-US" sz="1600" dirty="0">
              <a:solidFill>
                <a:srgbClr val="0070C0"/>
              </a:solidFill>
            </a:endParaRPr>
          </a:p>
        </p:txBody>
      </p:sp>
      <p:sp>
        <p:nvSpPr>
          <p:cNvPr id="8" name="Left Brace 7"/>
          <p:cNvSpPr/>
          <p:nvPr/>
        </p:nvSpPr>
        <p:spPr>
          <a:xfrm>
            <a:off x="1605179" y="2349961"/>
            <a:ext cx="304800" cy="1425908"/>
          </a:xfrm>
          <a:prstGeom prst="leftBrace">
            <a:avLst>
              <a:gd name="adj1" fmla="val 64583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Left Brace 8"/>
          <p:cNvSpPr/>
          <p:nvPr/>
        </p:nvSpPr>
        <p:spPr>
          <a:xfrm>
            <a:off x="1605179" y="1826740"/>
            <a:ext cx="304800" cy="533400"/>
          </a:xfrm>
          <a:prstGeom prst="leftBrace">
            <a:avLst>
              <a:gd name="adj1" fmla="val 31250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Left Brace 9"/>
          <p:cNvSpPr/>
          <p:nvPr/>
        </p:nvSpPr>
        <p:spPr>
          <a:xfrm>
            <a:off x="1609991" y="3775868"/>
            <a:ext cx="304800" cy="1374831"/>
          </a:xfrm>
          <a:prstGeom prst="leftBrace">
            <a:avLst>
              <a:gd name="adj1" fmla="val 64583"/>
              <a:gd name="adj2" fmla="val 5203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200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986179" y="1826740"/>
            <a:ext cx="2209800" cy="332395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latin typeface="Arial" pitchFamily="34" charset="0"/>
                <a:cs typeface="Arial" pitchFamily="34" charset="0"/>
              </a:rPr>
              <a:t>             </a:t>
            </a:r>
            <a:endParaRPr lang="en-US" sz="12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86179" y="1836265"/>
            <a:ext cx="2209800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itchFamily="34" charset="0"/>
                <a:cs typeface="Arial" pitchFamily="34" charset="0"/>
              </a:rPr>
              <a:t>Physics Event Length</a:t>
            </a:r>
          </a:p>
        </p:txBody>
      </p:sp>
      <p:grpSp>
        <p:nvGrpSpPr>
          <p:cNvPr id="13" name="Group 108"/>
          <p:cNvGrpSpPr/>
          <p:nvPr/>
        </p:nvGrpSpPr>
        <p:grpSpPr>
          <a:xfrm>
            <a:off x="1986179" y="2112489"/>
            <a:ext cx="2209800" cy="277000"/>
            <a:chOff x="1600200" y="971549"/>
            <a:chExt cx="2209800" cy="277000"/>
          </a:xfrm>
          <a:solidFill>
            <a:schemeClr val="bg1">
              <a:lumMod val="85000"/>
            </a:schemeClr>
          </a:solidFill>
        </p:grpSpPr>
        <p:grpSp>
          <p:nvGrpSpPr>
            <p:cNvPr id="14" name="Group 62"/>
            <p:cNvGrpSpPr/>
            <p:nvPr/>
          </p:nvGrpSpPr>
          <p:grpSpPr>
            <a:xfrm>
              <a:off x="1600200" y="971549"/>
              <a:ext cx="2209800" cy="277000"/>
              <a:chOff x="3276600" y="1333498"/>
              <a:chExt cx="2209800" cy="277000"/>
            </a:xfrm>
            <a:grpFill/>
          </p:grpSpPr>
          <p:sp>
            <p:nvSpPr>
              <p:cNvPr id="16" name="TextBox 15"/>
              <p:cNvSpPr txBox="1"/>
              <p:nvPr/>
            </p:nvSpPr>
            <p:spPr>
              <a:xfrm>
                <a:off x="3276600" y="1333499"/>
                <a:ext cx="2209800" cy="276999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latin typeface="Arial" pitchFamily="34" charset="0"/>
                    <a:cs typeface="Arial" pitchFamily="34" charset="0"/>
                  </a:rPr>
                  <a:t>     0xFF6X         0x10       TC</a:t>
                </a:r>
              </a:p>
            </p:txBody>
          </p:sp>
          <p:cxnSp>
            <p:nvCxnSpPr>
              <p:cNvPr id="17" name="Straight Connector 16"/>
              <p:cNvCxnSpPr/>
              <p:nvPr/>
            </p:nvCxnSpPr>
            <p:spPr>
              <a:xfrm rot="16200000" flipH="1">
                <a:off x="4243000" y="1471998"/>
                <a:ext cx="276999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Straight Connector 14"/>
            <p:cNvCxnSpPr/>
            <p:nvPr/>
          </p:nvCxnSpPr>
          <p:spPr>
            <a:xfrm rot="16200000" flipH="1">
              <a:off x="3138100" y="1110050"/>
              <a:ext cx="276999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1986175" y="2388715"/>
            <a:ext cx="2209804" cy="1391515"/>
            <a:chOff x="2057396" y="1334155"/>
            <a:chExt cx="2209804" cy="1391515"/>
          </a:xfrm>
        </p:grpSpPr>
        <p:sp>
          <p:nvSpPr>
            <p:cNvPr id="19" name="TextBox 18"/>
            <p:cNvSpPr txBox="1"/>
            <p:nvPr/>
          </p:nvSpPr>
          <p:spPr>
            <a:xfrm>
              <a:off x="2057400" y="1334155"/>
              <a:ext cx="2209800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Time Info Bank Length</a:t>
              </a:r>
            </a:p>
          </p:txBody>
        </p:sp>
        <p:grpSp>
          <p:nvGrpSpPr>
            <p:cNvPr id="20" name="Group 109"/>
            <p:cNvGrpSpPr/>
            <p:nvPr/>
          </p:nvGrpSpPr>
          <p:grpSpPr>
            <a:xfrm>
              <a:off x="2057400" y="1609605"/>
              <a:ext cx="2209800" cy="277000"/>
              <a:chOff x="1600200" y="971549"/>
              <a:chExt cx="2209800" cy="277000"/>
            </a:xfrm>
            <a:solidFill>
              <a:schemeClr val="accent1">
                <a:lumMod val="20000"/>
                <a:lumOff val="80000"/>
              </a:schemeClr>
            </a:solidFill>
          </p:grpSpPr>
          <p:grpSp>
            <p:nvGrpSpPr>
              <p:cNvPr id="24" name="Group 62"/>
              <p:cNvGrpSpPr/>
              <p:nvPr/>
            </p:nvGrpSpPr>
            <p:grpSpPr>
              <a:xfrm>
                <a:off x="1600200" y="971549"/>
                <a:ext cx="2209800" cy="277000"/>
                <a:chOff x="3276600" y="1333498"/>
                <a:chExt cx="2209800" cy="277000"/>
              </a:xfrm>
              <a:grpFill/>
            </p:grpSpPr>
            <p:sp>
              <p:nvSpPr>
                <p:cNvPr id="26" name="TextBox 25"/>
                <p:cNvSpPr txBox="1"/>
                <p:nvPr/>
              </p:nvSpPr>
              <p:spPr>
                <a:xfrm>
                  <a:off x="3276600" y="1333499"/>
                  <a:ext cx="2209800" cy="276999"/>
                </a:xfrm>
                <a:prstGeom prst="rect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dirty="0">
                      <a:latin typeface="Arial" pitchFamily="34" charset="0"/>
                      <a:cs typeface="Arial" pitchFamily="34" charset="0"/>
                    </a:rPr>
                    <a:t>     0xFF31         0x01       TC</a:t>
                  </a:r>
                </a:p>
              </p:txBody>
            </p:sp>
            <p:cxnSp>
              <p:nvCxnSpPr>
                <p:cNvPr id="27" name="Straight Connector 26"/>
                <p:cNvCxnSpPr/>
                <p:nvPr/>
              </p:nvCxnSpPr>
              <p:spPr>
                <a:xfrm rot="16200000" flipH="1">
                  <a:off x="4243000" y="1471998"/>
                  <a:ext cx="276999" cy="0"/>
                </a:xfrm>
                <a:prstGeom prst="lin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5" name="Straight Connector 24"/>
              <p:cNvCxnSpPr/>
              <p:nvPr/>
            </p:nvCxnSpPr>
            <p:spPr>
              <a:xfrm rot="16200000" flipH="1">
                <a:off x="3138100" y="1110050"/>
                <a:ext cx="276999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TextBox 20"/>
            <p:cNvSpPr txBox="1"/>
            <p:nvPr/>
          </p:nvSpPr>
          <p:spPr>
            <a:xfrm>
              <a:off x="2057396" y="2171509"/>
              <a:ext cx="2209800" cy="27699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Avg. Timestamp1 (31 – 0)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057396" y="2448671"/>
              <a:ext cx="2209800" cy="27699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Avg. Timestamp1 (63 – 32)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057400" y="1885951"/>
              <a:ext cx="2209800" cy="27699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Avg. Frame Number</a:t>
              </a:r>
            </a:p>
          </p:txBody>
        </p:sp>
      </p:grpSp>
      <p:cxnSp>
        <p:nvCxnSpPr>
          <p:cNvPr id="28" name="Straight Connector 27"/>
          <p:cNvCxnSpPr/>
          <p:nvPr/>
        </p:nvCxnSpPr>
        <p:spPr>
          <a:xfrm>
            <a:off x="6637593" y="1970361"/>
            <a:ext cx="0" cy="2580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5747217" y="2297067"/>
            <a:ext cx="0" cy="2580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70893" y="1683180"/>
            <a:ext cx="1066800" cy="276999"/>
          </a:xfrm>
          <a:prstGeom prst="rect">
            <a:avLst/>
          </a:prstGeom>
          <a:noFill/>
          <a:ln w="3175">
            <a:solidFill>
              <a:srgbClr val="0070C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Bank of banks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158" y="2555077"/>
            <a:ext cx="1094950" cy="461665"/>
          </a:xfrm>
          <a:prstGeom prst="rect">
            <a:avLst/>
          </a:prstGeom>
          <a:noFill/>
          <a:ln w="3175">
            <a:solidFill>
              <a:srgbClr val="0070C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Built Physics </a:t>
            </a:r>
            <a:r>
              <a:rPr lang="en-US" sz="1200">
                <a:solidFill>
                  <a:srgbClr val="0070C0"/>
                </a:solidFill>
              </a:rPr>
              <a:t>for Streaming</a:t>
            </a:r>
            <a:endParaRPr lang="en-US" sz="1200" dirty="0">
              <a:solidFill>
                <a:srgbClr val="0070C0"/>
              </a:solidFill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5227893" y="2112579"/>
            <a:ext cx="2209800" cy="276999"/>
            <a:chOff x="6096000" y="990600"/>
            <a:chExt cx="2209800" cy="276999"/>
          </a:xfrm>
          <a:solidFill>
            <a:schemeClr val="bg1"/>
          </a:solidFill>
        </p:grpSpPr>
        <p:grpSp>
          <p:nvGrpSpPr>
            <p:cNvPr id="33" name="Group 32"/>
            <p:cNvGrpSpPr/>
            <p:nvPr/>
          </p:nvGrpSpPr>
          <p:grpSpPr>
            <a:xfrm>
              <a:off x="6096000" y="990600"/>
              <a:ext cx="2209800" cy="276999"/>
              <a:chOff x="6248400" y="1066800"/>
              <a:chExt cx="2209800" cy="276999"/>
            </a:xfrm>
            <a:grpFill/>
          </p:grpSpPr>
          <p:sp>
            <p:nvSpPr>
              <p:cNvPr id="35" name="TextBox 34"/>
              <p:cNvSpPr txBox="1"/>
              <p:nvPr/>
            </p:nvSpPr>
            <p:spPr>
              <a:xfrm>
                <a:off x="6248400" y="1066800"/>
                <a:ext cx="2209800" cy="276999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>
                    <a:latin typeface="Arial" pitchFamily="34" charset="0"/>
                    <a:cs typeface="Arial" pitchFamily="34" charset="0"/>
                  </a:rPr>
                  <a:t>     0xFF6X        0x10       TC</a:t>
                </a:r>
              </a:p>
            </p:txBody>
          </p:sp>
          <p:cxnSp>
            <p:nvCxnSpPr>
              <p:cNvPr id="36" name="Straight Connector 35"/>
              <p:cNvCxnSpPr/>
              <p:nvPr/>
            </p:nvCxnSpPr>
            <p:spPr>
              <a:xfrm rot="16200000" flipH="1">
                <a:off x="7786300" y="1205300"/>
                <a:ext cx="276999" cy="0"/>
              </a:xfrm>
              <a:prstGeom prst="lin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/>
            <p:cNvCxnSpPr/>
            <p:nvPr/>
          </p:nvCxnSpPr>
          <p:spPr>
            <a:xfrm rot="16200000" flipH="1">
              <a:off x="7024300" y="1129100"/>
              <a:ext cx="276999" cy="0"/>
            </a:xfrm>
            <a:prstGeom prst="line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>
          <a:xfrm>
            <a:off x="6739722" y="2555077"/>
            <a:ext cx="1566077" cy="1015663"/>
          </a:xfrm>
          <a:prstGeom prst="rect">
            <a:avLst/>
          </a:prstGeom>
          <a:noFill/>
          <a:ln w="3175">
            <a:solidFill>
              <a:srgbClr val="0070C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70C0"/>
                </a:solidFill>
              </a:rPr>
              <a:t>ROC TSB Count</a:t>
            </a:r>
          </a:p>
          <a:p>
            <a:endParaRPr lang="en-US" sz="1200" dirty="0">
              <a:solidFill>
                <a:srgbClr val="0070C0"/>
              </a:solidFill>
            </a:endParaRPr>
          </a:p>
          <a:p>
            <a:r>
              <a:rPr lang="en-US" sz="1200" dirty="0">
                <a:solidFill>
                  <a:srgbClr val="0070C0"/>
                </a:solidFill>
              </a:rPr>
              <a:t>Note: there can be up to 4 streams from each ROC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95641" y="1198806"/>
            <a:ext cx="3409925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itchFamily="34" charset="0"/>
                <a:cs typeface="Arial" pitchFamily="34" charset="0"/>
              </a:rPr>
              <a:t>Streaming Physics Event</a:t>
            </a:r>
          </a:p>
        </p:txBody>
      </p:sp>
      <p:grpSp>
        <p:nvGrpSpPr>
          <p:cNvPr id="39" name="Group 38"/>
          <p:cNvGrpSpPr/>
          <p:nvPr/>
        </p:nvGrpSpPr>
        <p:grpSpPr>
          <a:xfrm>
            <a:off x="1981200" y="3775868"/>
            <a:ext cx="2214612" cy="1367679"/>
            <a:chOff x="1981200" y="3775868"/>
            <a:chExt cx="2214612" cy="1367679"/>
          </a:xfrm>
        </p:grpSpPr>
        <p:sp>
          <p:nvSpPr>
            <p:cNvPr id="40" name="TextBox 39"/>
            <p:cNvSpPr txBox="1"/>
            <p:nvPr/>
          </p:nvSpPr>
          <p:spPr>
            <a:xfrm>
              <a:off x="1981200" y="4866548"/>
              <a:ext cx="2209800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ROC N Time Slice Bank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1986012" y="3775868"/>
              <a:ext cx="2209800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ROC 1a Time Slice Bank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1981200" y="4597291"/>
              <a:ext cx="2209800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mr-IN" sz="1200" b="1" dirty="0">
                  <a:latin typeface="Arial" pitchFamily="34" charset="0"/>
                  <a:cs typeface="Arial" pitchFamily="34" charset="0"/>
                </a:rPr>
                <a:t>…</a:t>
              </a:r>
              <a:endParaRPr lang="en-US" sz="12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981200" y="4326486"/>
              <a:ext cx="2209800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ROC 2 Time Slice Bank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981200" y="4051035"/>
              <a:ext cx="2209800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ROC 1b Time Slice Bank</a:t>
              </a:r>
            </a:p>
          </p:txBody>
        </p:sp>
      </p:grpSp>
      <p:cxnSp>
        <p:nvCxnSpPr>
          <p:cNvPr id="45" name="Straight Connector 44"/>
          <p:cNvCxnSpPr/>
          <p:nvPr/>
        </p:nvCxnSpPr>
        <p:spPr>
          <a:xfrm>
            <a:off x="7159305" y="2389578"/>
            <a:ext cx="363456" cy="1654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3598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0" y="990600"/>
            <a:ext cx="4876800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itchFamily="34" charset="0"/>
                <a:cs typeface="Arial" pitchFamily="34" charset="0"/>
              </a:rPr>
              <a:t>TRIGGER / STREAMING  BANK  TAGS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104316"/>
              </p:ext>
            </p:extLst>
          </p:nvPr>
        </p:nvGraphicFramePr>
        <p:xfrm>
          <a:off x="609600" y="1693816"/>
          <a:ext cx="7848600" cy="397111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553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95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092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Tag</a:t>
                      </a:r>
                      <a:r>
                        <a:rPr lang="en-US" sz="1600" baseline="0" dirty="0"/>
                        <a:t> Value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Purpose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926">
                <a:tc>
                  <a:txBody>
                    <a:bodyPr/>
                    <a:lstStyle/>
                    <a:p>
                      <a:pPr algn="ctr"/>
                      <a:r>
                        <a:rPr lang="en-US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0xFF4F</a:t>
                      </a:r>
                      <a:endParaRPr lang="en-US" sz="1400" baseline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 least one ROC used in building trigger bank</a:t>
                      </a:r>
                      <a:r>
                        <a:rPr lang="en-US" sz="1400" i="0" kern="1200" baseline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has bad or nonexistent trigger bank</a:t>
                      </a:r>
                      <a:endParaRPr lang="en-US" sz="1400" i="0" baseline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92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0xFF50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Event built by primary event builder</a:t>
                      </a:r>
                      <a:endParaRPr lang="en-US" sz="14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92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0xFF58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Event built by primary event builder with sync bit set</a:t>
                      </a:r>
                      <a:endParaRPr lang="en-US" sz="14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570"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0xFF70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Event built by secondary event builder</a:t>
                      </a:r>
                      <a:endParaRPr lang="en-US" sz="14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92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0xFF78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2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4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Event built by secondary event builder with sync bit set</a:t>
                      </a:r>
                      <a:endParaRPr lang="en-US" sz="14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926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2" indent="-3429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200" b="0" dirty="0"/>
                        <a:t>STREAMING TAGS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092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0xFF30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2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400" b="0" dirty="0"/>
                        <a:t>Stream Info Bank</a:t>
                      </a:r>
                      <a:r>
                        <a:rPr lang="en-US" sz="1400" b="0" baseline="0" dirty="0"/>
                        <a:t> (for ROC Raw)</a:t>
                      </a:r>
                      <a:endParaRPr 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0926"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0xFF31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2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1400" b="0" dirty="0"/>
                        <a:t>Time Info Bank</a:t>
                      </a:r>
                      <a:r>
                        <a:rPr lang="en-US" sz="1400" b="0" baseline="0" dirty="0"/>
                        <a:t> (for Physics)</a:t>
                      </a:r>
                      <a:endParaRPr lang="en-US" sz="14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926"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0xFF60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Event built by primary event builder in streaming mode</a:t>
                      </a:r>
                      <a:endParaRPr lang="en-US" sz="14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0926"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0xFF62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Event built by secondary event builder in streaming mode</a:t>
                      </a:r>
                      <a:endParaRPr lang="en-US" sz="14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0926"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0xFF64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Event built by DC event builder in streaming mode</a:t>
                      </a:r>
                      <a:endParaRPr lang="en-US" sz="1400" b="0" i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3027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9"/>
          <p:cNvSpPr txBox="1"/>
          <p:nvPr/>
        </p:nvSpPr>
        <p:spPr>
          <a:xfrm>
            <a:off x="1136470" y="186784"/>
            <a:ext cx="1663880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itchFamily="34" charset="0"/>
                <a:cs typeface="Arial" pitchFamily="34" charset="0"/>
              </a:rPr>
              <a:t>VTP ROC 1 Channel</a:t>
            </a:r>
          </a:p>
          <a:p>
            <a:pPr algn="ctr"/>
            <a:r>
              <a:rPr lang="en-US" sz="1200" b="1" dirty="0">
                <a:latin typeface="Arial" pitchFamily="34" charset="0"/>
                <a:cs typeface="Arial" pitchFamily="34" charset="0"/>
              </a:rPr>
              <a:t>(3 streams)</a:t>
            </a:r>
            <a:endParaRPr lang="en-US" sz="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468572" y="186784"/>
            <a:ext cx="1663880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itchFamily="34" charset="0"/>
                <a:cs typeface="Arial" pitchFamily="34" charset="0"/>
              </a:rPr>
              <a:t>VTP ROC 2 Channel</a:t>
            </a:r>
          </a:p>
          <a:p>
            <a:pPr algn="ctr"/>
            <a:r>
              <a:rPr lang="en-US" sz="1200" b="1" dirty="0">
                <a:latin typeface="Arial" pitchFamily="34" charset="0"/>
                <a:cs typeface="Arial" pitchFamily="34" charset="0"/>
              </a:rPr>
              <a:t>(1 stream)</a:t>
            </a:r>
            <a:endParaRPr lang="en-US" sz="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800674" y="186784"/>
            <a:ext cx="1663880" cy="46166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itchFamily="34" charset="0"/>
                <a:cs typeface="Arial" pitchFamily="34" charset="0"/>
              </a:rPr>
              <a:t>VTP ROC 3 Channel</a:t>
            </a:r>
          </a:p>
          <a:p>
            <a:pPr algn="ctr"/>
            <a:r>
              <a:rPr lang="en-US" sz="1200" b="1" dirty="0">
                <a:latin typeface="Arial" pitchFamily="34" charset="0"/>
                <a:cs typeface="Arial" pitchFamily="34" charset="0"/>
              </a:rPr>
              <a:t>(2 streams)</a:t>
            </a:r>
            <a:endParaRPr lang="en-US" sz="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69070" y="4263354"/>
            <a:ext cx="2561006" cy="101566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rgbClr val="0070C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S ==&gt; Stream</a:t>
            </a:r>
          </a:p>
          <a:p>
            <a:r>
              <a:rPr lang="en-US" sz="1600" dirty="0"/>
              <a:t>TS </a:t>
            </a:r>
            <a:r>
              <a:rPr lang="en-US" sz="1600" dirty="0">
                <a:sym typeface="Wingdings"/>
              </a:rPr>
              <a:t>==&gt;</a:t>
            </a:r>
            <a:r>
              <a:rPr lang="en-US" sz="1600" dirty="0"/>
              <a:t>  Time Slice</a:t>
            </a:r>
          </a:p>
          <a:p>
            <a:r>
              <a:rPr lang="en-US" sz="1600" dirty="0"/>
              <a:t>TSB </a:t>
            </a:r>
            <a:r>
              <a:rPr lang="en-US" sz="1600" dirty="0">
                <a:sym typeface="Wingdings"/>
              </a:rPr>
              <a:t>==&gt;</a:t>
            </a:r>
            <a:r>
              <a:rPr lang="en-US" sz="1600" dirty="0"/>
              <a:t> ROC Time Slice Bank</a:t>
            </a:r>
          </a:p>
          <a:p>
            <a:endParaRPr lang="en-US" sz="1200" dirty="0"/>
          </a:p>
        </p:txBody>
      </p:sp>
      <p:grpSp>
        <p:nvGrpSpPr>
          <p:cNvPr id="71" name="Group 70"/>
          <p:cNvGrpSpPr/>
          <p:nvPr/>
        </p:nvGrpSpPr>
        <p:grpSpPr>
          <a:xfrm>
            <a:off x="1207590" y="1778329"/>
            <a:ext cx="1469450" cy="828534"/>
            <a:chOff x="1136470" y="2819536"/>
            <a:chExt cx="1469450" cy="828534"/>
          </a:xfrm>
        </p:grpSpPr>
        <p:sp>
          <p:nvSpPr>
            <p:cNvPr id="8" name="TextBox 7"/>
            <p:cNvSpPr txBox="1"/>
            <p:nvPr/>
          </p:nvSpPr>
          <p:spPr>
            <a:xfrm>
              <a:off x="1136470" y="3371071"/>
              <a:ext cx="1469450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ROC 1, TS 2, S 1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136470" y="2819536"/>
              <a:ext cx="1469450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ROC 1, TS 2, S 3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1136470" y="3100384"/>
              <a:ext cx="1469450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ROC 1, TS 2, S 2</a:t>
              </a: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1207590" y="2668460"/>
            <a:ext cx="1469450" cy="828534"/>
            <a:chOff x="1136470" y="2819536"/>
            <a:chExt cx="1469450" cy="828534"/>
          </a:xfrm>
        </p:grpSpPr>
        <p:sp>
          <p:nvSpPr>
            <p:cNvPr id="73" name="TextBox 72"/>
            <p:cNvSpPr txBox="1"/>
            <p:nvPr/>
          </p:nvSpPr>
          <p:spPr>
            <a:xfrm>
              <a:off x="1136470" y="3371071"/>
              <a:ext cx="1469450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ROC 1, TS 1, S 1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1136470" y="2819536"/>
              <a:ext cx="1469450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ROC 1, TS 1, S 3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136470" y="3100384"/>
              <a:ext cx="1469450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ROC 1, TS 1, S 2</a:t>
              </a: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1207590" y="888198"/>
            <a:ext cx="1469450" cy="828534"/>
            <a:chOff x="1136470" y="2819536"/>
            <a:chExt cx="1469450" cy="828534"/>
          </a:xfrm>
        </p:grpSpPr>
        <p:sp>
          <p:nvSpPr>
            <p:cNvPr id="77" name="TextBox 76"/>
            <p:cNvSpPr txBox="1"/>
            <p:nvPr/>
          </p:nvSpPr>
          <p:spPr>
            <a:xfrm>
              <a:off x="1136470" y="3371071"/>
              <a:ext cx="146945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ROC 1, TS 3, S 1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136470" y="2819536"/>
              <a:ext cx="146945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ROC 1, TS 3, S 3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1136470" y="3100384"/>
              <a:ext cx="146945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ROC 1, TS 3, S 2</a:t>
              </a:r>
            </a:p>
          </p:txBody>
        </p:sp>
      </p:grpSp>
      <p:sp>
        <p:nvSpPr>
          <p:cNvPr id="81" name="TextBox 80"/>
          <p:cNvSpPr txBox="1"/>
          <p:nvPr/>
        </p:nvSpPr>
        <p:spPr>
          <a:xfrm>
            <a:off x="3539189" y="2329864"/>
            <a:ext cx="1469450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itchFamily="34" charset="0"/>
                <a:cs typeface="Arial" pitchFamily="34" charset="0"/>
              </a:rPr>
              <a:t>ROC 2, TS 2, S 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539189" y="3219995"/>
            <a:ext cx="146945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itchFamily="34" charset="0"/>
                <a:cs typeface="Arial" pitchFamily="34" charset="0"/>
              </a:rPr>
              <a:t>ROC 2, TS 1, S 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539189" y="1439733"/>
            <a:ext cx="1469450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itchFamily="34" charset="0"/>
                <a:cs typeface="Arial" pitchFamily="34" charset="0"/>
              </a:rPr>
              <a:t>ROC 2, TS 3, S 1</a:t>
            </a:r>
          </a:p>
        </p:txBody>
      </p:sp>
      <p:grpSp>
        <p:nvGrpSpPr>
          <p:cNvPr id="92" name="Group 91"/>
          <p:cNvGrpSpPr/>
          <p:nvPr/>
        </p:nvGrpSpPr>
        <p:grpSpPr>
          <a:xfrm>
            <a:off x="5926733" y="2059177"/>
            <a:ext cx="1469450" cy="547686"/>
            <a:chOff x="1136470" y="3100384"/>
            <a:chExt cx="1469450" cy="547686"/>
          </a:xfrm>
        </p:grpSpPr>
        <p:sp>
          <p:nvSpPr>
            <p:cNvPr id="93" name="TextBox 92"/>
            <p:cNvSpPr txBox="1"/>
            <p:nvPr/>
          </p:nvSpPr>
          <p:spPr>
            <a:xfrm>
              <a:off x="1136470" y="3371071"/>
              <a:ext cx="1469450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ROC 3, TS 2, S 1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1136470" y="3100384"/>
              <a:ext cx="1469450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ROC 3, TS 2, S 2</a:t>
              </a:r>
            </a:p>
          </p:txBody>
        </p:sp>
      </p:grpSp>
      <p:grpSp>
        <p:nvGrpSpPr>
          <p:cNvPr id="96" name="Group 95"/>
          <p:cNvGrpSpPr/>
          <p:nvPr/>
        </p:nvGrpSpPr>
        <p:grpSpPr>
          <a:xfrm>
            <a:off x="5926733" y="2949308"/>
            <a:ext cx="1469450" cy="547686"/>
            <a:chOff x="1136470" y="3100384"/>
            <a:chExt cx="1469450" cy="547686"/>
          </a:xfrm>
        </p:grpSpPr>
        <p:sp>
          <p:nvSpPr>
            <p:cNvPr id="97" name="TextBox 96"/>
            <p:cNvSpPr txBox="1"/>
            <p:nvPr/>
          </p:nvSpPr>
          <p:spPr>
            <a:xfrm>
              <a:off x="1136470" y="3371071"/>
              <a:ext cx="1469450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ROC 3, TS 1, S 1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136470" y="3100384"/>
              <a:ext cx="1469450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ROC 3, TS 1, S 2</a:t>
              </a:r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5926733" y="1169046"/>
            <a:ext cx="1469450" cy="547686"/>
            <a:chOff x="1136470" y="3100384"/>
            <a:chExt cx="1469450" cy="547686"/>
          </a:xfrm>
        </p:grpSpPr>
        <p:sp>
          <p:nvSpPr>
            <p:cNvPr id="101" name="TextBox 100"/>
            <p:cNvSpPr txBox="1"/>
            <p:nvPr/>
          </p:nvSpPr>
          <p:spPr>
            <a:xfrm>
              <a:off x="1136470" y="3371071"/>
              <a:ext cx="146945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ROC 3, TS 3, S 1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1136470" y="3100384"/>
              <a:ext cx="146945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ROC 3, TS 3, S 2</a:t>
              </a:r>
            </a:p>
          </p:txBody>
        </p:sp>
      </p:grpSp>
      <p:sp>
        <p:nvSpPr>
          <p:cNvPr id="104" name="TextBox 103"/>
          <p:cNvSpPr txBox="1"/>
          <p:nvPr/>
        </p:nvSpPr>
        <p:spPr>
          <a:xfrm>
            <a:off x="2774174" y="3793736"/>
            <a:ext cx="3026500" cy="2769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itchFamily="34" charset="0"/>
                <a:cs typeface="Arial" pitchFamily="34" charset="0"/>
              </a:rPr>
              <a:t>Time Slice Sorting Thread</a:t>
            </a:r>
            <a:endParaRPr lang="en-US" sz="8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05" name="Straight Arrow Connector 104"/>
          <p:cNvCxnSpPr/>
          <p:nvPr/>
        </p:nvCxnSpPr>
        <p:spPr>
          <a:xfrm>
            <a:off x="1967557" y="3511413"/>
            <a:ext cx="771691" cy="48544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/>
          <p:cNvCxnSpPr>
            <a:stCxn id="85" idx="2"/>
            <a:endCxn id="104" idx="0"/>
          </p:cNvCxnSpPr>
          <p:nvPr/>
        </p:nvCxnSpPr>
        <p:spPr>
          <a:xfrm>
            <a:off x="4273914" y="3496994"/>
            <a:ext cx="13510" cy="29674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/>
          <p:nvPr/>
        </p:nvCxnSpPr>
        <p:spPr>
          <a:xfrm flipH="1">
            <a:off x="5800674" y="3520358"/>
            <a:ext cx="952248" cy="45524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 rot="16200000">
            <a:off x="-1372716" y="3148924"/>
            <a:ext cx="3534012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itchFamily="34" charset="0"/>
                <a:cs typeface="Arial" pitchFamily="34" charset="0"/>
              </a:rPr>
              <a:t>Event Building </a:t>
            </a:r>
            <a:r>
              <a:rPr lang="en-US" sz="2000" b="1">
                <a:latin typeface="Arial" pitchFamily="34" charset="0"/>
                <a:cs typeface="Arial" pitchFamily="34" charset="0"/>
              </a:rPr>
              <a:t>with slices</a:t>
            </a:r>
            <a:endParaRPr lang="en-US" sz="2000" b="1" dirty="0"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28" name="Group 127"/>
          <p:cNvGrpSpPr/>
          <p:nvPr/>
        </p:nvGrpSpPr>
        <p:grpSpPr>
          <a:xfrm>
            <a:off x="2481221" y="4214668"/>
            <a:ext cx="1623060" cy="1623060"/>
            <a:chOff x="2633980" y="723900"/>
            <a:chExt cx="1623060" cy="1623060"/>
          </a:xfrm>
        </p:grpSpPr>
        <p:grpSp>
          <p:nvGrpSpPr>
            <p:cNvPr id="129" name="Group 128"/>
            <p:cNvGrpSpPr/>
            <p:nvPr/>
          </p:nvGrpSpPr>
          <p:grpSpPr>
            <a:xfrm>
              <a:off x="2633980" y="723900"/>
              <a:ext cx="1623060" cy="1623060"/>
              <a:chOff x="2633980" y="723900"/>
              <a:chExt cx="2966720" cy="2966720"/>
            </a:xfrm>
          </p:grpSpPr>
          <p:sp>
            <p:nvSpPr>
              <p:cNvPr id="142" name="Oval 141"/>
              <p:cNvSpPr/>
              <p:nvPr/>
            </p:nvSpPr>
            <p:spPr>
              <a:xfrm>
                <a:off x="2633980" y="723900"/>
                <a:ext cx="2966720" cy="2966720"/>
              </a:xfrm>
              <a:prstGeom prst="ellipse">
                <a:avLst/>
              </a:prstGeom>
              <a:solidFill>
                <a:schemeClr val="bg1"/>
              </a:solidFill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43" name="Straight Connector 142"/>
              <p:cNvCxnSpPr>
                <a:stCxn id="130" idx="0"/>
                <a:endCxn id="130" idx="4"/>
              </p:cNvCxnSpPr>
              <p:nvPr/>
            </p:nvCxnSpPr>
            <p:spPr>
              <a:xfrm>
                <a:off x="4117340" y="723900"/>
                <a:ext cx="0" cy="296672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Straight Connector 143"/>
              <p:cNvCxnSpPr>
                <a:stCxn id="130" idx="2"/>
                <a:endCxn id="130" idx="6"/>
              </p:cNvCxnSpPr>
              <p:nvPr/>
            </p:nvCxnSpPr>
            <p:spPr>
              <a:xfrm>
                <a:off x="2633980" y="2207260"/>
                <a:ext cx="2966720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Straight Connector 144"/>
              <p:cNvCxnSpPr>
                <a:stCxn id="130" idx="1"/>
                <a:endCxn id="130" idx="5"/>
              </p:cNvCxnSpPr>
              <p:nvPr/>
            </p:nvCxnSpPr>
            <p:spPr>
              <a:xfrm>
                <a:off x="3068446" y="1158366"/>
                <a:ext cx="2097788" cy="2097788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Straight Connector 145"/>
              <p:cNvCxnSpPr>
                <a:stCxn id="130" idx="7"/>
                <a:endCxn id="130" idx="3"/>
              </p:cNvCxnSpPr>
              <p:nvPr/>
            </p:nvCxnSpPr>
            <p:spPr>
              <a:xfrm flipH="1">
                <a:off x="3068446" y="1158366"/>
                <a:ext cx="2097788" cy="2097788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/>
              <p:cNvCxnSpPr/>
              <p:nvPr/>
            </p:nvCxnSpPr>
            <p:spPr>
              <a:xfrm>
                <a:off x="3548380" y="855980"/>
                <a:ext cx="1137920" cy="270256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/>
              <p:nvPr/>
            </p:nvCxnSpPr>
            <p:spPr>
              <a:xfrm>
                <a:off x="2743200" y="1656080"/>
                <a:ext cx="2763520" cy="1106123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/>
              <p:cNvCxnSpPr/>
              <p:nvPr/>
            </p:nvCxnSpPr>
            <p:spPr>
              <a:xfrm flipH="1">
                <a:off x="3548381" y="855980"/>
                <a:ext cx="1131984" cy="270256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/>
              <p:cNvCxnSpPr/>
              <p:nvPr/>
            </p:nvCxnSpPr>
            <p:spPr>
              <a:xfrm flipV="1">
                <a:off x="2743200" y="1656080"/>
                <a:ext cx="2748280" cy="1120203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1" name="Oval 150"/>
              <p:cNvSpPr/>
              <p:nvPr/>
            </p:nvSpPr>
            <p:spPr>
              <a:xfrm>
                <a:off x="3368040" y="1457960"/>
                <a:ext cx="1498600" cy="1498600"/>
              </a:xfrm>
              <a:prstGeom prst="ellipse">
                <a:avLst/>
              </a:prstGeom>
              <a:solidFill>
                <a:schemeClr val="bg1"/>
              </a:solidFill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30" name="TextBox 129"/>
            <p:cNvSpPr txBox="1"/>
            <p:nvPr/>
          </p:nvSpPr>
          <p:spPr>
            <a:xfrm>
              <a:off x="3419852" y="195214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1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3816210" y="171801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1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3670102" y="1891738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1</a:t>
              </a: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3941373" y="122113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1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3949404" y="14675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1</a:t>
              </a:r>
            </a:p>
          </p:txBody>
        </p:sp>
        <p:sp>
          <p:nvSpPr>
            <p:cNvPr id="135" name="TextBox 134"/>
            <p:cNvSpPr txBox="1"/>
            <p:nvPr/>
          </p:nvSpPr>
          <p:spPr>
            <a:xfrm>
              <a:off x="3204494" y="75277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3866317" y="98805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1</a:t>
              </a: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2778779" y="102061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3643467" y="84502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2964263" y="81642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3443887" y="74253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2686786" y="123388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grpSp>
        <p:nvGrpSpPr>
          <p:cNvPr id="152" name="Group 151"/>
          <p:cNvGrpSpPr/>
          <p:nvPr/>
        </p:nvGrpSpPr>
        <p:grpSpPr>
          <a:xfrm>
            <a:off x="4331925" y="4214668"/>
            <a:ext cx="1623060" cy="1623060"/>
            <a:chOff x="2633980" y="723900"/>
            <a:chExt cx="1623060" cy="1623060"/>
          </a:xfrm>
        </p:grpSpPr>
        <p:grpSp>
          <p:nvGrpSpPr>
            <p:cNvPr id="153" name="Group 152"/>
            <p:cNvGrpSpPr/>
            <p:nvPr/>
          </p:nvGrpSpPr>
          <p:grpSpPr>
            <a:xfrm>
              <a:off x="2633980" y="723900"/>
              <a:ext cx="1623060" cy="1623060"/>
              <a:chOff x="2633980" y="723900"/>
              <a:chExt cx="2966720" cy="2966720"/>
            </a:xfrm>
          </p:grpSpPr>
          <p:sp>
            <p:nvSpPr>
              <p:cNvPr id="160" name="Oval 159"/>
              <p:cNvSpPr/>
              <p:nvPr/>
            </p:nvSpPr>
            <p:spPr>
              <a:xfrm>
                <a:off x="2633980" y="723900"/>
                <a:ext cx="2966720" cy="2966720"/>
              </a:xfrm>
              <a:prstGeom prst="ellipse">
                <a:avLst/>
              </a:prstGeom>
              <a:solidFill>
                <a:schemeClr val="bg1"/>
              </a:solidFill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61" name="Straight Connector 160"/>
              <p:cNvCxnSpPr/>
              <p:nvPr/>
            </p:nvCxnSpPr>
            <p:spPr>
              <a:xfrm>
                <a:off x="4117340" y="723900"/>
                <a:ext cx="0" cy="296672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Straight Connector 161"/>
              <p:cNvCxnSpPr/>
              <p:nvPr/>
            </p:nvCxnSpPr>
            <p:spPr>
              <a:xfrm>
                <a:off x="2633980" y="2207260"/>
                <a:ext cx="2966720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162"/>
              <p:cNvCxnSpPr/>
              <p:nvPr/>
            </p:nvCxnSpPr>
            <p:spPr>
              <a:xfrm>
                <a:off x="3068446" y="1158366"/>
                <a:ext cx="2097788" cy="2097788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/>
              <p:nvPr/>
            </p:nvCxnSpPr>
            <p:spPr>
              <a:xfrm flipH="1">
                <a:off x="3068446" y="1158366"/>
                <a:ext cx="2097788" cy="2097788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/>
              <p:cNvCxnSpPr/>
              <p:nvPr/>
            </p:nvCxnSpPr>
            <p:spPr>
              <a:xfrm>
                <a:off x="3548380" y="855980"/>
                <a:ext cx="1137920" cy="270256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6" name="Straight Connector 165"/>
              <p:cNvCxnSpPr/>
              <p:nvPr/>
            </p:nvCxnSpPr>
            <p:spPr>
              <a:xfrm>
                <a:off x="2743200" y="1656080"/>
                <a:ext cx="2763520" cy="1106123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166"/>
              <p:cNvCxnSpPr/>
              <p:nvPr/>
            </p:nvCxnSpPr>
            <p:spPr>
              <a:xfrm flipH="1">
                <a:off x="3548381" y="855980"/>
                <a:ext cx="1131984" cy="270256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167"/>
              <p:cNvCxnSpPr/>
              <p:nvPr/>
            </p:nvCxnSpPr>
            <p:spPr>
              <a:xfrm flipV="1">
                <a:off x="2743200" y="1656080"/>
                <a:ext cx="2748280" cy="1120203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9" name="Oval 168"/>
              <p:cNvSpPr/>
              <p:nvPr/>
            </p:nvSpPr>
            <p:spPr>
              <a:xfrm>
                <a:off x="3368040" y="1457960"/>
                <a:ext cx="1498600" cy="1498600"/>
              </a:xfrm>
              <a:prstGeom prst="ellipse">
                <a:avLst/>
              </a:prstGeom>
              <a:solidFill>
                <a:schemeClr val="bg1"/>
              </a:solidFill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4" name="TextBox 153"/>
            <p:cNvSpPr txBox="1"/>
            <p:nvPr/>
          </p:nvSpPr>
          <p:spPr>
            <a:xfrm>
              <a:off x="3419852" y="195214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3816210" y="171801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6" name="TextBox 155"/>
            <p:cNvSpPr txBox="1"/>
            <p:nvPr/>
          </p:nvSpPr>
          <p:spPr>
            <a:xfrm>
              <a:off x="3670102" y="1891738"/>
              <a:ext cx="30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3941373" y="122113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</a:t>
              </a:r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3949404" y="1467596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2</a:t>
              </a:r>
              <a:endParaRPr lang="en-US" dirty="0"/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3866317" y="98805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2</a:t>
              </a:r>
              <a:endParaRPr lang="en-US" dirty="0"/>
            </a:p>
          </p:txBody>
        </p:sp>
      </p:grpSp>
      <p:cxnSp>
        <p:nvCxnSpPr>
          <p:cNvPr id="170" name="Straight Arrow Connector 169"/>
          <p:cNvCxnSpPr>
            <a:endCxn id="142" idx="7"/>
          </p:cNvCxnSpPr>
          <p:nvPr/>
        </p:nvCxnSpPr>
        <p:spPr>
          <a:xfrm flipH="1">
            <a:off x="3866589" y="4097075"/>
            <a:ext cx="231743" cy="35528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/>
          <p:cNvCxnSpPr>
            <a:endCxn id="160" idx="1"/>
          </p:cNvCxnSpPr>
          <p:nvPr/>
        </p:nvCxnSpPr>
        <p:spPr>
          <a:xfrm>
            <a:off x="4441849" y="4106835"/>
            <a:ext cx="127768" cy="34552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TextBox 174"/>
          <p:cNvSpPr txBox="1"/>
          <p:nvPr/>
        </p:nvSpPr>
        <p:spPr>
          <a:xfrm>
            <a:off x="1103538" y="4705126"/>
            <a:ext cx="13479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Ring </a:t>
            </a:r>
            <a:r>
              <a:rPr lang="en-US" dirty="0" err="1"/>
              <a:t>Buf</a:t>
            </a:r>
            <a:r>
              <a:rPr lang="en-US" dirty="0"/>
              <a:t> of TSBs (TS </a:t>
            </a:r>
            <a:r>
              <a:rPr lang="en-US" dirty="0" err="1"/>
              <a:t>val</a:t>
            </a:r>
            <a:r>
              <a:rPr lang="en-US" dirty="0"/>
              <a:t>)</a:t>
            </a:r>
          </a:p>
        </p:txBody>
      </p:sp>
      <p:sp>
        <p:nvSpPr>
          <p:cNvPr id="176" name="Left Brace 175"/>
          <p:cNvSpPr/>
          <p:nvPr/>
        </p:nvSpPr>
        <p:spPr>
          <a:xfrm flipH="1">
            <a:off x="7537117" y="885618"/>
            <a:ext cx="304800" cy="2624115"/>
          </a:xfrm>
          <a:prstGeom prst="leftBrace">
            <a:avLst>
              <a:gd name="adj1" fmla="val 42708"/>
              <a:gd name="adj2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TextBox 177"/>
          <p:cNvSpPr txBox="1"/>
          <p:nvPr/>
        </p:nvSpPr>
        <p:spPr>
          <a:xfrm>
            <a:off x="88024" y="5990204"/>
            <a:ext cx="2452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Event Building Threads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2451507" y="6049973"/>
            <a:ext cx="1621521" cy="2769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Arial" pitchFamily="34" charset="0"/>
                <a:cs typeface="Arial" pitchFamily="34" charset="0"/>
              </a:rPr>
              <a:t>Building Thread 1</a:t>
            </a:r>
            <a:endParaRPr lang="en-US" sz="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4300512" y="6049917"/>
            <a:ext cx="1621521" cy="27699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itchFamily="34" charset="0"/>
                <a:cs typeface="Arial" pitchFamily="34" charset="0"/>
              </a:rPr>
              <a:t>Building Thread 2</a:t>
            </a:r>
            <a:endParaRPr lang="en-US" sz="800" b="1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81" name="Straight Arrow Connector 180"/>
          <p:cNvCxnSpPr/>
          <p:nvPr/>
        </p:nvCxnSpPr>
        <p:spPr>
          <a:xfrm>
            <a:off x="5631187" y="5699567"/>
            <a:ext cx="127768" cy="34552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Arrow Connector 181"/>
          <p:cNvCxnSpPr/>
          <p:nvPr/>
        </p:nvCxnSpPr>
        <p:spPr>
          <a:xfrm flipH="1">
            <a:off x="2638019" y="5720168"/>
            <a:ext cx="231743" cy="35528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/>
          <p:cNvCxnSpPr/>
          <p:nvPr/>
        </p:nvCxnSpPr>
        <p:spPr>
          <a:xfrm>
            <a:off x="3318450" y="6326916"/>
            <a:ext cx="34971" cy="40916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Arrow Connector 184"/>
          <p:cNvCxnSpPr/>
          <p:nvPr/>
        </p:nvCxnSpPr>
        <p:spPr>
          <a:xfrm>
            <a:off x="5106861" y="6347713"/>
            <a:ext cx="34971" cy="40916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TextBox 185"/>
          <p:cNvSpPr txBox="1"/>
          <p:nvPr/>
        </p:nvSpPr>
        <p:spPr>
          <a:xfrm>
            <a:off x="7683555" y="1606630"/>
            <a:ext cx="12614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Contents of each channel’s ring buffer</a:t>
            </a:r>
          </a:p>
        </p:txBody>
      </p:sp>
    </p:spTree>
    <p:extLst>
      <p:ext uri="{BB962C8B-B14F-4D97-AF65-F5344CB8AC3E}">
        <p14:creationId xmlns:p14="http://schemas.microsoft.com/office/powerpoint/2010/main" val="2044815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158">
            <a:extLst>
              <a:ext uri="{FF2B5EF4-FFF2-40B4-BE49-F238E27FC236}">
                <a16:creationId xmlns:a16="http://schemas.microsoft.com/office/drawing/2014/main" id="{EC1FA332-4628-4A4E-9718-DA39BB6DFF6C}"/>
              </a:ext>
            </a:extLst>
          </p:cNvPr>
          <p:cNvSpPr/>
          <p:nvPr/>
        </p:nvSpPr>
        <p:spPr>
          <a:xfrm>
            <a:off x="1136470" y="2704285"/>
            <a:ext cx="6321012" cy="2990616"/>
          </a:xfrm>
          <a:prstGeom prst="rect">
            <a:avLst/>
          </a:prstGeom>
          <a:solidFill>
            <a:srgbClr val="EEE7FF"/>
          </a:solidFill>
          <a:ln w="254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7308917-C440-E342-BDEE-DC8EF22E4AEC}"/>
              </a:ext>
            </a:extLst>
          </p:cNvPr>
          <p:cNvSpPr txBox="1"/>
          <p:nvPr/>
        </p:nvSpPr>
        <p:spPr>
          <a:xfrm>
            <a:off x="1136470" y="60320"/>
            <a:ext cx="166388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itchFamily="34" charset="0"/>
                <a:cs typeface="Arial" pitchFamily="34" charset="0"/>
              </a:rPr>
              <a:t>Input Channel 1</a:t>
            </a:r>
          </a:p>
          <a:p>
            <a:pPr algn="ctr"/>
            <a:r>
              <a:rPr lang="en-US" sz="1200" b="1" dirty="0">
                <a:latin typeface="Arial" pitchFamily="34" charset="0"/>
                <a:cs typeface="Arial" pitchFamily="34" charset="0"/>
              </a:rPr>
              <a:t>(2 streams) </a:t>
            </a:r>
            <a:endParaRPr lang="en-US" sz="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328EA91-EC09-E245-89BD-B4CA7EA12CF0}"/>
              </a:ext>
            </a:extLst>
          </p:cNvPr>
          <p:cNvSpPr txBox="1"/>
          <p:nvPr/>
        </p:nvSpPr>
        <p:spPr>
          <a:xfrm>
            <a:off x="3468572" y="60320"/>
            <a:ext cx="166388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itchFamily="34" charset="0"/>
                <a:cs typeface="Arial" pitchFamily="34" charset="0"/>
              </a:rPr>
              <a:t>Input Channel 2</a:t>
            </a:r>
          </a:p>
          <a:p>
            <a:pPr algn="ctr"/>
            <a:r>
              <a:rPr lang="en-US" sz="1200" b="1" dirty="0">
                <a:latin typeface="Arial" pitchFamily="34" charset="0"/>
                <a:cs typeface="Arial" pitchFamily="34" charset="0"/>
              </a:rPr>
              <a:t>(1 stream)</a:t>
            </a:r>
            <a:endParaRPr lang="en-US" sz="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5BCBEE1-0744-CD4B-91BC-54BD48BA44F0}"/>
              </a:ext>
            </a:extLst>
          </p:cNvPr>
          <p:cNvSpPr txBox="1"/>
          <p:nvPr/>
        </p:nvSpPr>
        <p:spPr>
          <a:xfrm>
            <a:off x="5800674" y="60320"/>
            <a:ext cx="166388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itchFamily="34" charset="0"/>
                <a:cs typeface="Arial" pitchFamily="34" charset="0"/>
              </a:rPr>
              <a:t>Input Channel 3</a:t>
            </a:r>
          </a:p>
          <a:p>
            <a:pPr algn="ctr"/>
            <a:r>
              <a:rPr lang="en-US" sz="1200" b="1" dirty="0">
                <a:latin typeface="Arial" pitchFamily="34" charset="0"/>
                <a:cs typeface="Arial" pitchFamily="34" charset="0"/>
              </a:rPr>
              <a:t>(2 streams)</a:t>
            </a:r>
            <a:endParaRPr lang="en-US" sz="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3608050-9784-834A-BD6F-5450A2750941}"/>
              </a:ext>
            </a:extLst>
          </p:cNvPr>
          <p:cNvSpPr txBox="1"/>
          <p:nvPr/>
        </p:nvSpPr>
        <p:spPr>
          <a:xfrm>
            <a:off x="6098049" y="3044313"/>
            <a:ext cx="1219730" cy="892552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rgbClr val="0070C0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S =&gt; Stream</a:t>
            </a:r>
          </a:p>
          <a:p>
            <a:r>
              <a:rPr lang="en-US" sz="1000" dirty="0"/>
              <a:t>TS </a:t>
            </a:r>
            <a:r>
              <a:rPr lang="en-US" sz="1000" dirty="0">
                <a:sym typeface="Wingdings"/>
              </a:rPr>
              <a:t>=&gt;</a:t>
            </a:r>
            <a:r>
              <a:rPr lang="en-US" sz="1000" dirty="0"/>
              <a:t>  Time Slice</a:t>
            </a:r>
          </a:p>
          <a:p>
            <a:r>
              <a:rPr lang="en-US" sz="1000" dirty="0"/>
              <a:t>TSB </a:t>
            </a:r>
            <a:r>
              <a:rPr lang="en-US" sz="1000" dirty="0">
                <a:sym typeface="Wingdings"/>
              </a:rPr>
              <a:t>=&gt;</a:t>
            </a:r>
            <a:r>
              <a:rPr lang="en-US" sz="1000" dirty="0"/>
              <a:t> ROC Time Slice Bank</a:t>
            </a:r>
          </a:p>
          <a:p>
            <a:endParaRPr lang="en-US" sz="1200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1DFCB47-11C9-4E44-8149-47C91D2B53B1}"/>
              </a:ext>
            </a:extLst>
          </p:cNvPr>
          <p:cNvGrpSpPr/>
          <p:nvPr/>
        </p:nvGrpSpPr>
        <p:grpSpPr>
          <a:xfrm>
            <a:off x="1236774" y="1280948"/>
            <a:ext cx="1469450" cy="547686"/>
            <a:chOff x="1136470" y="3100384"/>
            <a:chExt cx="1469450" cy="547686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FFBBBBB-01BE-FF4F-8767-02849D7144F1}"/>
                </a:ext>
              </a:extLst>
            </p:cNvPr>
            <p:cNvSpPr txBox="1"/>
            <p:nvPr/>
          </p:nvSpPr>
          <p:spPr>
            <a:xfrm>
              <a:off x="1136470" y="3371071"/>
              <a:ext cx="1469450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ROC 1, TS 2, S 1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EE6A120-CF8C-4349-937A-C1AC2BDA1EE1}"/>
                </a:ext>
              </a:extLst>
            </p:cNvPr>
            <p:cNvSpPr txBox="1"/>
            <p:nvPr/>
          </p:nvSpPr>
          <p:spPr>
            <a:xfrm>
              <a:off x="1136470" y="3100384"/>
              <a:ext cx="1469450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ROC 1, TS 2, S 2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BB00748-3145-4448-90F8-F2BCC6C39FA6}"/>
              </a:ext>
            </a:extLst>
          </p:cNvPr>
          <p:cNvGrpSpPr/>
          <p:nvPr/>
        </p:nvGrpSpPr>
        <p:grpSpPr>
          <a:xfrm>
            <a:off x="1236774" y="1937607"/>
            <a:ext cx="1469450" cy="547686"/>
            <a:chOff x="1136470" y="3100384"/>
            <a:chExt cx="1469450" cy="547686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992ED400-5BE7-6B46-9631-A31DA62CBFF7}"/>
                </a:ext>
              </a:extLst>
            </p:cNvPr>
            <p:cNvSpPr txBox="1"/>
            <p:nvPr/>
          </p:nvSpPr>
          <p:spPr>
            <a:xfrm>
              <a:off x="1136470" y="3371071"/>
              <a:ext cx="1469450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ROC 1, TS 1, S 1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FF1404C-4577-BE45-9D03-20FD4BA0703E}"/>
                </a:ext>
              </a:extLst>
            </p:cNvPr>
            <p:cNvSpPr txBox="1"/>
            <p:nvPr/>
          </p:nvSpPr>
          <p:spPr>
            <a:xfrm>
              <a:off x="1136470" y="3100384"/>
              <a:ext cx="1469450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ROC 1, TS 1, S 2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24F6A45-B603-4F43-80B0-B3E9BEDA7659}"/>
              </a:ext>
            </a:extLst>
          </p:cNvPr>
          <p:cNvGrpSpPr/>
          <p:nvPr/>
        </p:nvGrpSpPr>
        <p:grpSpPr>
          <a:xfrm>
            <a:off x="1236774" y="634017"/>
            <a:ext cx="1469450" cy="547686"/>
            <a:chOff x="1136470" y="3100384"/>
            <a:chExt cx="1469450" cy="547686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3C4602A9-C37A-7543-84AD-4E41E402E61F}"/>
                </a:ext>
              </a:extLst>
            </p:cNvPr>
            <p:cNvSpPr txBox="1"/>
            <p:nvPr/>
          </p:nvSpPr>
          <p:spPr>
            <a:xfrm>
              <a:off x="1136470" y="3371071"/>
              <a:ext cx="146945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ROC 1, TS 3, S 1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152EC84E-5D50-D041-AF04-1657019BE5CE}"/>
                </a:ext>
              </a:extLst>
            </p:cNvPr>
            <p:cNvSpPr txBox="1"/>
            <p:nvPr/>
          </p:nvSpPr>
          <p:spPr>
            <a:xfrm>
              <a:off x="1136470" y="3100384"/>
              <a:ext cx="146945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ROC 1, TS 3, S 2</a:t>
              </a:r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F868BDD9-351D-A044-95FE-A8182466FF96}"/>
              </a:ext>
            </a:extLst>
          </p:cNvPr>
          <p:cNvSpPr txBox="1"/>
          <p:nvPr/>
        </p:nvSpPr>
        <p:spPr>
          <a:xfrm>
            <a:off x="3568373" y="1279261"/>
            <a:ext cx="1469450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itchFamily="34" charset="0"/>
                <a:cs typeface="Arial" pitchFamily="34" charset="0"/>
              </a:rPr>
              <a:t>ROC 2, TS 2, S 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EB57515-C843-E04A-81FA-D6AFB6FC72C8}"/>
              </a:ext>
            </a:extLst>
          </p:cNvPr>
          <p:cNvSpPr txBox="1"/>
          <p:nvPr/>
        </p:nvSpPr>
        <p:spPr>
          <a:xfrm>
            <a:off x="3568373" y="1935920"/>
            <a:ext cx="146945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itchFamily="34" charset="0"/>
                <a:cs typeface="Arial" pitchFamily="34" charset="0"/>
              </a:rPr>
              <a:t>ROC 2, TS 1, S 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713C110-38B7-E541-BD90-08129985C1DB}"/>
              </a:ext>
            </a:extLst>
          </p:cNvPr>
          <p:cNvSpPr txBox="1"/>
          <p:nvPr/>
        </p:nvSpPr>
        <p:spPr>
          <a:xfrm>
            <a:off x="3568373" y="632330"/>
            <a:ext cx="1469450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Arial" pitchFamily="34" charset="0"/>
                <a:cs typeface="Arial" pitchFamily="34" charset="0"/>
              </a:rPr>
              <a:t>ROC 2, TS 3, S 1</a:t>
            </a: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55EE58E-62BC-AA44-8617-4D4A92AEDC63}"/>
              </a:ext>
            </a:extLst>
          </p:cNvPr>
          <p:cNvGrpSpPr/>
          <p:nvPr/>
        </p:nvGrpSpPr>
        <p:grpSpPr>
          <a:xfrm>
            <a:off x="5897549" y="1280952"/>
            <a:ext cx="1469450" cy="547686"/>
            <a:chOff x="1136470" y="3100384"/>
            <a:chExt cx="1469450" cy="547686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492D90D-4EB2-9A45-B627-F9AA8A16114E}"/>
                </a:ext>
              </a:extLst>
            </p:cNvPr>
            <p:cNvSpPr txBox="1"/>
            <p:nvPr/>
          </p:nvSpPr>
          <p:spPr>
            <a:xfrm>
              <a:off x="1136470" y="3371071"/>
              <a:ext cx="1469450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ROC 3, TS 2, S 1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78DB41C-0C0A-EC48-92A5-432ED0645D96}"/>
                </a:ext>
              </a:extLst>
            </p:cNvPr>
            <p:cNvSpPr txBox="1"/>
            <p:nvPr/>
          </p:nvSpPr>
          <p:spPr>
            <a:xfrm>
              <a:off x="1136470" y="3100384"/>
              <a:ext cx="1469450" cy="27699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ROC 3, TS 2, S 2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BA2C74B-4ADF-134A-92EB-2687AC6DCE55}"/>
              </a:ext>
            </a:extLst>
          </p:cNvPr>
          <p:cNvGrpSpPr/>
          <p:nvPr/>
        </p:nvGrpSpPr>
        <p:grpSpPr>
          <a:xfrm>
            <a:off x="5897549" y="1937611"/>
            <a:ext cx="1469450" cy="547686"/>
            <a:chOff x="1136470" y="3100384"/>
            <a:chExt cx="1469450" cy="547686"/>
          </a:xfrm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1FC2AFC-B786-FD45-B52A-E38EB4AD8AAD}"/>
                </a:ext>
              </a:extLst>
            </p:cNvPr>
            <p:cNvSpPr txBox="1"/>
            <p:nvPr/>
          </p:nvSpPr>
          <p:spPr>
            <a:xfrm>
              <a:off x="1136470" y="3371071"/>
              <a:ext cx="1469450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ROC 3, TS 1, S 1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EF4A209D-6DCD-224D-867B-302C34CF994B}"/>
                </a:ext>
              </a:extLst>
            </p:cNvPr>
            <p:cNvSpPr txBox="1"/>
            <p:nvPr/>
          </p:nvSpPr>
          <p:spPr>
            <a:xfrm>
              <a:off x="1136470" y="3100384"/>
              <a:ext cx="1469450" cy="27699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ROC 3, TS 1, S 2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42386D0-BB60-024A-A480-F6509A01602D}"/>
              </a:ext>
            </a:extLst>
          </p:cNvPr>
          <p:cNvGrpSpPr/>
          <p:nvPr/>
        </p:nvGrpSpPr>
        <p:grpSpPr>
          <a:xfrm>
            <a:off x="5897549" y="634021"/>
            <a:ext cx="1469450" cy="547686"/>
            <a:chOff x="1136470" y="3100384"/>
            <a:chExt cx="1469450" cy="547686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C81BF844-B114-CB4F-8F7C-6081E5421103}"/>
                </a:ext>
              </a:extLst>
            </p:cNvPr>
            <p:cNvSpPr txBox="1"/>
            <p:nvPr/>
          </p:nvSpPr>
          <p:spPr>
            <a:xfrm>
              <a:off x="1136470" y="3371071"/>
              <a:ext cx="146945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ROC 3, TS 3, S 1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40FBD104-45EE-2F4C-8EAE-B5695F4465D5}"/>
                </a:ext>
              </a:extLst>
            </p:cNvPr>
            <p:cNvSpPr txBox="1"/>
            <p:nvPr/>
          </p:nvSpPr>
          <p:spPr>
            <a:xfrm>
              <a:off x="1136470" y="3100384"/>
              <a:ext cx="1469450" cy="27699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ROC 3, TS 3, S 2</a:t>
              </a:r>
            </a:p>
          </p:txBody>
        </p:sp>
      </p:grp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6EF3AAB-F9AC-DE40-9F39-BB0F25B6984D}"/>
              </a:ext>
            </a:extLst>
          </p:cNvPr>
          <p:cNvCxnSpPr>
            <a:cxnSpLocks/>
            <a:stCxn id="148" idx="2"/>
            <a:endCxn id="87" idx="1"/>
          </p:cNvCxnSpPr>
          <p:nvPr/>
        </p:nvCxnSpPr>
        <p:spPr>
          <a:xfrm>
            <a:off x="1968410" y="2577825"/>
            <a:ext cx="814061" cy="54729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CFAD823C-0CB4-E840-BDA7-523CC4EEEBB9}"/>
              </a:ext>
            </a:extLst>
          </p:cNvPr>
          <p:cNvCxnSpPr>
            <a:cxnSpLocks/>
            <a:stCxn id="149" idx="2"/>
            <a:endCxn id="87" idx="0"/>
          </p:cNvCxnSpPr>
          <p:nvPr/>
        </p:nvCxnSpPr>
        <p:spPr>
          <a:xfrm flipH="1">
            <a:off x="4295721" y="2584247"/>
            <a:ext cx="4443" cy="40236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D312D2C5-582E-ED44-BFC7-312788D62D93}"/>
              </a:ext>
            </a:extLst>
          </p:cNvPr>
          <p:cNvCxnSpPr>
            <a:cxnSpLocks/>
            <a:endCxn id="87" idx="3"/>
          </p:cNvCxnSpPr>
          <p:nvPr/>
        </p:nvCxnSpPr>
        <p:spPr>
          <a:xfrm flipH="1">
            <a:off x="5808971" y="2577583"/>
            <a:ext cx="933342" cy="54753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8502F2F0-FAB0-9943-BABB-7EC590B6ECFD}"/>
              </a:ext>
            </a:extLst>
          </p:cNvPr>
          <p:cNvGrpSpPr/>
          <p:nvPr/>
        </p:nvGrpSpPr>
        <p:grpSpPr>
          <a:xfrm>
            <a:off x="1260601" y="2986615"/>
            <a:ext cx="4733296" cy="2503760"/>
            <a:chOff x="1260601" y="2986615"/>
            <a:chExt cx="4733296" cy="2503760"/>
          </a:xfrm>
        </p:grpSpPr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D66F9FC0-7F20-8443-9031-D6DFAE0237AB}"/>
                </a:ext>
              </a:extLst>
            </p:cNvPr>
            <p:cNvSpPr txBox="1"/>
            <p:nvPr/>
          </p:nvSpPr>
          <p:spPr>
            <a:xfrm>
              <a:off x="2782471" y="2986615"/>
              <a:ext cx="3026500" cy="27699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Time Slice Sorting Thread</a:t>
              </a:r>
              <a:endParaRPr lang="en-US" sz="800" b="1" dirty="0"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B6F6A71B-0737-E543-B8C1-632BE9D1A30F}"/>
                </a:ext>
              </a:extLst>
            </p:cNvPr>
            <p:cNvGrpSpPr/>
            <p:nvPr/>
          </p:nvGrpSpPr>
          <p:grpSpPr>
            <a:xfrm>
              <a:off x="2520133" y="3378071"/>
              <a:ext cx="1623060" cy="1623060"/>
              <a:chOff x="2633980" y="723900"/>
              <a:chExt cx="1623060" cy="1623060"/>
            </a:xfrm>
          </p:grpSpPr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CB72F791-21F2-2F46-A5CC-AB651E6F9463}"/>
                  </a:ext>
                </a:extLst>
              </p:cNvPr>
              <p:cNvGrpSpPr/>
              <p:nvPr/>
            </p:nvGrpSpPr>
            <p:grpSpPr>
              <a:xfrm>
                <a:off x="2633980" y="723900"/>
                <a:ext cx="1623060" cy="1623060"/>
                <a:chOff x="2633980" y="723900"/>
                <a:chExt cx="2966720" cy="2966720"/>
              </a:xfrm>
            </p:grpSpPr>
            <p:sp>
              <p:nvSpPr>
                <p:cNvPr id="106" name="Oval 105">
                  <a:extLst>
                    <a:ext uri="{FF2B5EF4-FFF2-40B4-BE49-F238E27FC236}">
                      <a16:creationId xmlns:a16="http://schemas.microsoft.com/office/drawing/2014/main" id="{068A7C10-46EA-1146-9E90-C03CC6739883}"/>
                    </a:ext>
                  </a:extLst>
                </p:cNvPr>
                <p:cNvSpPr/>
                <p:nvPr/>
              </p:nvSpPr>
              <p:spPr>
                <a:xfrm>
                  <a:off x="2633980" y="723900"/>
                  <a:ext cx="2966720" cy="2966720"/>
                </a:xfrm>
                <a:prstGeom prst="ellipse">
                  <a:avLst/>
                </a:prstGeom>
                <a:solidFill>
                  <a:schemeClr val="bg1"/>
                </a:solidFill>
                <a:ln w="254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7" name="Straight Connector 106">
                  <a:extLst>
                    <a:ext uri="{FF2B5EF4-FFF2-40B4-BE49-F238E27FC236}">
                      <a16:creationId xmlns:a16="http://schemas.microsoft.com/office/drawing/2014/main" id="{7DA7AC51-61B7-7D4C-AFDA-FBE02A0999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117340" y="723900"/>
                  <a:ext cx="0" cy="2966720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9530999F-390A-D244-9243-6D5C0B3284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33980" y="2207260"/>
                  <a:ext cx="2966720" cy="0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AB16D448-4F4D-C143-91CA-CE8D469D74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68446" y="1158366"/>
                  <a:ext cx="2097788" cy="2097788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CADF0251-3C82-054A-9DF5-F9EFB3B7E6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068446" y="1158366"/>
                  <a:ext cx="2097788" cy="2097788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96A47661-A51B-E540-8351-99345AFFFF65}"/>
                    </a:ext>
                  </a:extLst>
                </p:cNvPr>
                <p:cNvCxnSpPr/>
                <p:nvPr/>
              </p:nvCxnSpPr>
              <p:spPr>
                <a:xfrm>
                  <a:off x="3548380" y="855980"/>
                  <a:ext cx="1137920" cy="2702560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>
                  <a:extLst>
                    <a:ext uri="{FF2B5EF4-FFF2-40B4-BE49-F238E27FC236}">
                      <a16:creationId xmlns:a16="http://schemas.microsoft.com/office/drawing/2014/main" id="{6D12EBE3-B9CC-FF4B-85BD-1257E61DE220}"/>
                    </a:ext>
                  </a:extLst>
                </p:cNvPr>
                <p:cNvCxnSpPr/>
                <p:nvPr/>
              </p:nvCxnSpPr>
              <p:spPr>
                <a:xfrm>
                  <a:off x="2743200" y="1656080"/>
                  <a:ext cx="2763520" cy="1106123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Straight Connector 112">
                  <a:extLst>
                    <a:ext uri="{FF2B5EF4-FFF2-40B4-BE49-F238E27FC236}">
                      <a16:creationId xmlns:a16="http://schemas.microsoft.com/office/drawing/2014/main" id="{67FF7DB5-4F07-E84C-B58C-ECC5BF6FF01B}"/>
                    </a:ext>
                  </a:extLst>
                </p:cNvPr>
                <p:cNvCxnSpPr/>
                <p:nvPr/>
              </p:nvCxnSpPr>
              <p:spPr>
                <a:xfrm flipH="1">
                  <a:off x="3548381" y="855980"/>
                  <a:ext cx="1131984" cy="2702560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Connector 115">
                  <a:extLst>
                    <a:ext uri="{FF2B5EF4-FFF2-40B4-BE49-F238E27FC236}">
                      <a16:creationId xmlns:a16="http://schemas.microsoft.com/office/drawing/2014/main" id="{3E5E1DB0-6D05-E043-893C-966E6463B1EE}"/>
                    </a:ext>
                  </a:extLst>
                </p:cNvPr>
                <p:cNvCxnSpPr/>
                <p:nvPr/>
              </p:nvCxnSpPr>
              <p:spPr>
                <a:xfrm flipV="1">
                  <a:off x="2743200" y="1656080"/>
                  <a:ext cx="2748280" cy="1120203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7" name="Oval 116">
                  <a:extLst>
                    <a:ext uri="{FF2B5EF4-FFF2-40B4-BE49-F238E27FC236}">
                      <a16:creationId xmlns:a16="http://schemas.microsoft.com/office/drawing/2014/main" id="{A5378A9F-084A-634E-B6D3-847DE9A48398}"/>
                    </a:ext>
                  </a:extLst>
                </p:cNvPr>
                <p:cNvSpPr/>
                <p:nvPr/>
              </p:nvSpPr>
              <p:spPr>
                <a:xfrm>
                  <a:off x="3368040" y="1457960"/>
                  <a:ext cx="1498600" cy="1498600"/>
                </a:xfrm>
                <a:prstGeom prst="ellipse">
                  <a:avLst/>
                </a:prstGeom>
                <a:solidFill>
                  <a:srgbClr val="EEE7FF"/>
                </a:solidFill>
                <a:ln w="254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94ED332D-0174-6E44-B496-A14B84858831}"/>
                  </a:ext>
                </a:extLst>
              </p:cNvPr>
              <p:cNvSpPr txBox="1"/>
              <p:nvPr/>
            </p:nvSpPr>
            <p:spPr>
              <a:xfrm>
                <a:off x="3816210" y="171801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1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D824691F-B53A-384F-AC13-D5E2D589B129}"/>
                  </a:ext>
                </a:extLst>
              </p:cNvPr>
              <p:cNvSpPr txBox="1"/>
              <p:nvPr/>
            </p:nvSpPr>
            <p:spPr>
              <a:xfrm>
                <a:off x="3670102" y="1891738"/>
                <a:ext cx="30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1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2CA564A9-2829-3247-9E6B-337701A7E327}"/>
                  </a:ext>
                </a:extLst>
              </p:cNvPr>
              <p:cNvSpPr txBox="1"/>
              <p:nvPr/>
            </p:nvSpPr>
            <p:spPr>
              <a:xfrm>
                <a:off x="3941373" y="1221139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1</a:t>
                </a: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A5344579-F84C-3D44-81B2-F0EBCB7E14BE}"/>
                  </a:ext>
                </a:extLst>
              </p:cNvPr>
              <p:cNvSpPr txBox="1"/>
              <p:nvPr/>
            </p:nvSpPr>
            <p:spPr>
              <a:xfrm>
                <a:off x="3949404" y="146759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1</a:t>
                </a: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B969972-BAD4-A441-B42E-98B41B8944AA}"/>
                  </a:ext>
                </a:extLst>
              </p:cNvPr>
              <p:cNvSpPr txBox="1"/>
              <p:nvPr/>
            </p:nvSpPr>
            <p:spPr>
              <a:xfrm>
                <a:off x="3204494" y="75277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2DE198EF-2294-6249-AB5E-07B0E163A0FD}"/>
                  </a:ext>
                </a:extLst>
              </p:cNvPr>
              <p:cNvSpPr txBox="1"/>
              <p:nvPr/>
            </p:nvSpPr>
            <p:spPr>
              <a:xfrm>
                <a:off x="3866317" y="988053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1</a:t>
                </a: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6A55822A-6FD3-3943-9B14-F1B061753C2D}"/>
                  </a:ext>
                </a:extLst>
              </p:cNvPr>
              <p:cNvSpPr txBox="1"/>
              <p:nvPr/>
            </p:nvSpPr>
            <p:spPr>
              <a:xfrm>
                <a:off x="2778779" y="1020617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FE971F8A-4029-6541-A4CC-81FA80B16A4F}"/>
                  </a:ext>
                </a:extLst>
              </p:cNvPr>
              <p:cNvSpPr txBox="1"/>
              <p:nvPr/>
            </p:nvSpPr>
            <p:spPr>
              <a:xfrm>
                <a:off x="3643467" y="84502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17A342AA-9A97-A640-BF6D-2E57966DFABC}"/>
                  </a:ext>
                </a:extLst>
              </p:cNvPr>
              <p:cNvSpPr txBox="1"/>
              <p:nvPr/>
            </p:nvSpPr>
            <p:spPr>
              <a:xfrm>
                <a:off x="2964263" y="81642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FBE11159-CA2E-4F4A-95B7-44CEAB101870}"/>
                  </a:ext>
                </a:extLst>
              </p:cNvPr>
              <p:cNvSpPr txBox="1"/>
              <p:nvPr/>
            </p:nvSpPr>
            <p:spPr>
              <a:xfrm>
                <a:off x="3443887" y="742533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</a:p>
            </p:txBody>
          </p:sp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05550D6D-1406-7645-AC86-73F532304C59}"/>
                </a:ext>
              </a:extLst>
            </p:cNvPr>
            <p:cNvGrpSpPr/>
            <p:nvPr/>
          </p:nvGrpSpPr>
          <p:grpSpPr>
            <a:xfrm>
              <a:off x="4370837" y="3378071"/>
              <a:ext cx="1623060" cy="1623060"/>
              <a:chOff x="2633980" y="723900"/>
              <a:chExt cx="1623060" cy="1623060"/>
            </a:xfrm>
          </p:grpSpPr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EF289A2F-1D90-7E4E-A8FD-273817A15DB5}"/>
                  </a:ext>
                </a:extLst>
              </p:cNvPr>
              <p:cNvGrpSpPr/>
              <p:nvPr/>
            </p:nvGrpSpPr>
            <p:grpSpPr>
              <a:xfrm>
                <a:off x="2633980" y="723900"/>
                <a:ext cx="1623060" cy="1623060"/>
                <a:chOff x="2633980" y="723900"/>
                <a:chExt cx="2966720" cy="2966720"/>
              </a:xfrm>
            </p:grpSpPr>
            <p:sp>
              <p:nvSpPr>
                <p:cNvPr id="126" name="Oval 125">
                  <a:extLst>
                    <a:ext uri="{FF2B5EF4-FFF2-40B4-BE49-F238E27FC236}">
                      <a16:creationId xmlns:a16="http://schemas.microsoft.com/office/drawing/2014/main" id="{E64E4803-CB6F-384E-B162-88F1DB10D264}"/>
                    </a:ext>
                  </a:extLst>
                </p:cNvPr>
                <p:cNvSpPr/>
                <p:nvPr/>
              </p:nvSpPr>
              <p:spPr>
                <a:xfrm>
                  <a:off x="2633980" y="723900"/>
                  <a:ext cx="2966720" cy="2966720"/>
                </a:xfrm>
                <a:prstGeom prst="ellipse">
                  <a:avLst/>
                </a:prstGeom>
                <a:solidFill>
                  <a:schemeClr val="bg1"/>
                </a:solidFill>
                <a:ln w="254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27" name="Straight Connector 126">
                  <a:extLst>
                    <a:ext uri="{FF2B5EF4-FFF2-40B4-BE49-F238E27FC236}">
                      <a16:creationId xmlns:a16="http://schemas.microsoft.com/office/drawing/2014/main" id="{8797A088-8353-1745-A637-E0BC7ED7CDA3}"/>
                    </a:ext>
                  </a:extLst>
                </p:cNvPr>
                <p:cNvCxnSpPr/>
                <p:nvPr/>
              </p:nvCxnSpPr>
              <p:spPr>
                <a:xfrm>
                  <a:off x="4117340" y="723900"/>
                  <a:ext cx="0" cy="2966720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>
                  <a:extLst>
                    <a:ext uri="{FF2B5EF4-FFF2-40B4-BE49-F238E27FC236}">
                      <a16:creationId xmlns:a16="http://schemas.microsoft.com/office/drawing/2014/main" id="{CAEBC7FE-F785-1D49-B9A1-E4976EEFDD40}"/>
                    </a:ext>
                  </a:extLst>
                </p:cNvPr>
                <p:cNvCxnSpPr/>
                <p:nvPr/>
              </p:nvCxnSpPr>
              <p:spPr>
                <a:xfrm>
                  <a:off x="2633980" y="2207260"/>
                  <a:ext cx="2966720" cy="0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BBF75DAA-99A1-F446-B939-CAA41AEA3C3F}"/>
                    </a:ext>
                  </a:extLst>
                </p:cNvPr>
                <p:cNvCxnSpPr/>
                <p:nvPr/>
              </p:nvCxnSpPr>
              <p:spPr>
                <a:xfrm>
                  <a:off x="3068446" y="1158366"/>
                  <a:ext cx="2097788" cy="2097788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>
                  <a:extLst>
                    <a:ext uri="{FF2B5EF4-FFF2-40B4-BE49-F238E27FC236}">
                      <a16:creationId xmlns:a16="http://schemas.microsoft.com/office/drawing/2014/main" id="{477C7A80-8080-3145-8E89-A8986CE20CE0}"/>
                    </a:ext>
                  </a:extLst>
                </p:cNvPr>
                <p:cNvCxnSpPr/>
                <p:nvPr/>
              </p:nvCxnSpPr>
              <p:spPr>
                <a:xfrm flipH="1">
                  <a:off x="3068446" y="1158366"/>
                  <a:ext cx="2097788" cy="2097788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Connector 130">
                  <a:extLst>
                    <a:ext uri="{FF2B5EF4-FFF2-40B4-BE49-F238E27FC236}">
                      <a16:creationId xmlns:a16="http://schemas.microsoft.com/office/drawing/2014/main" id="{C188E9B0-1720-1046-A4F6-3A471399240D}"/>
                    </a:ext>
                  </a:extLst>
                </p:cNvPr>
                <p:cNvCxnSpPr/>
                <p:nvPr/>
              </p:nvCxnSpPr>
              <p:spPr>
                <a:xfrm>
                  <a:off x="3548380" y="855980"/>
                  <a:ext cx="1137920" cy="2702560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Connector 131">
                  <a:extLst>
                    <a:ext uri="{FF2B5EF4-FFF2-40B4-BE49-F238E27FC236}">
                      <a16:creationId xmlns:a16="http://schemas.microsoft.com/office/drawing/2014/main" id="{E0F92322-CBDD-484D-AD8A-4ACAF71B23A4}"/>
                    </a:ext>
                  </a:extLst>
                </p:cNvPr>
                <p:cNvCxnSpPr/>
                <p:nvPr/>
              </p:nvCxnSpPr>
              <p:spPr>
                <a:xfrm>
                  <a:off x="2743200" y="1656080"/>
                  <a:ext cx="2763520" cy="1106123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Connector 132">
                  <a:extLst>
                    <a:ext uri="{FF2B5EF4-FFF2-40B4-BE49-F238E27FC236}">
                      <a16:creationId xmlns:a16="http://schemas.microsoft.com/office/drawing/2014/main" id="{E4CA04C5-C0D4-D245-96CA-58A3294AC995}"/>
                    </a:ext>
                  </a:extLst>
                </p:cNvPr>
                <p:cNvCxnSpPr/>
                <p:nvPr/>
              </p:nvCxnSpPr>
              <p:spPr>
                <a:xfrm flipH="1">
                  <a:off x="3548381" y="855980"/>
                  <a:ext cx="1131984" cy="2702560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Connector 133">
                  <a:extLst>
                    <a:ext uri="{FF2B5EF4-FFF2-40B4-BE49-F238E27FC236}">
                      <a16:creationId xmlns:a16="http://schemas.microsoft.com/office/drawing/2014/main" id="{ACCFEE24-AA02-0B41-8883-5E8F772128A8}"/>
                    </a:ext>
                  </a:extLst>
                </p:cNvPr>
                <p:cNvCxnSpPr/>
                <p:nvPr/>
              </p:nvCxnSpPr>
              <p:spPr>
                <a:xfrm flipV="1">
                  <a:off x="2743200" y="1656080"/>
                  <a:ext cx="2748280" cy="1120203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BB29B316-F6DD-464D-B030-240DC11B8E54}"/>
                    </a:ext>
                  </a:extLst>
                </p:cNvPr>
                <p:cNvSpPr/>
                <p:nvPr/>
              </p:nvSpPr>
              <p:spPr>
                <a:xfrm>
                  <a:off x="3368040" y="1457960"/>
                  <a:ext cx="1498600" cy="1498600"/>
                </a:xfrm>
                <a:prstGeom prst="ellipse">
                  <a:avLst/>
                </a:prstGeom>
                <a:solidFill>
                  <a:srgbClr val="EEE7FF"/>
                </a:solidFill>
                <a:ln w="254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AD640396-0EE2-D541-A35C-016C47DFF1B3}"/>
                  </a:ext>
                </a:extLst>
              </p:cNvPr>
              <p:cNvSpPr txBox="1"/>
              <p:nvPr/>
            </p:nvSpPr>
            <p:spPr>
              <a:xfrm>
                <a:off x="3816210" y="1718010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122" name="TextBox 121">
                <a:extLst>
                  <a:ext uri="{FF2B5EF4-FFF2-40B4-BE49-F238E27FC236}">
                    <a16:creationId xmlns:a16="http://schemas.microsoft.com/office/drawing/2014/main" id="{C659B116-E4D0-DA42-A2D8-DA439BEE5D4F}"/>
                  </a:ext>
                </a:extLst>
              </p:cNvPr>
              <p:cNvSpPr txBox="1"/>
              <p:nvPr/>
            </p:nvSpPr>
            <p:spPr>
              <a:xfrm>
                <a:off x="3670102" y="1891738"/>
                <a:ext cx="3048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63A054AD-0254-2C47-A6B5-A39356BDC71E}"/>
                  </a:ext>
                </a:extLst>
              </p:cNvPr>
              <p:cNvSpPr txBox="1"/>
              <p:nvPr/>
            </p:nvSpPr>
            <p:spPr>
              <a:xfrm>
                <a:off x="3941373" y="1221139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DC6C2A0D-C169-BD41-9298-1F6F6B034965}"/>
                  </a:ext>
                </a:extLst>
              </p:cNvPr>
              <p:cNvSpPr txBox="1"/>
              <p:nvPr/>
            </p:nvSpPr>
            <p:spPr>
              <a:xfrm>
                <a:off x="3949404" y="1467596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2</a:t>
                </a:r>
                <a:endParaRPr lang="en-US" dirty="0"/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57EAB394-9680-C04B-9D7F-413C08DE3A81}"/>
                  </a:ext>
                </a:extLst>
              </p:cNvPr>
              <p:cNvSpPr txBox="1"/>
              <p:nvPr/>
            </p:nvSpPr>
            <p:spPr>
              <a:xfrm>
                <a:off x="3866317" y="988053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/>
                  <a:t>2</a:t>
                </a:r>
                <a:endParaRPr lang="en-US" dirty="0"/>
              </a:p>
            </p:txBody>
          </p:sp>
        </p:grpSp>
        <p:cxnSp>
          <p:nvCxnSpPr>
            <p:cNvPr id="136" name="Straight Arrow Connector 135">
              <a:extLst>
                <a:ext uri="{FF2B5EF4-FFF2-40B4-BE49-F238E27FC236}">
                  <a16:creationId xmlns:a16="http://schemas.microsoft.com/office/drawing/2014/main" id="{3A3D3C60-9317-E247-8B30-35726DEF6A27}"/>
                </a:ext>
              </a:extLst>
            </p:cNvPr>
            <p:cNvCxnSpPr>
              <a:cxnSpLocks/>
              <a:endCxn id="106" idx="7"/>
            </p:cNvCxnSpPr>
            <p:nvPr/>
          </p:nvCxnSpPr>
          <p:spPr>
            <a:xfrm flipH="1">
              <a:off x="3905501" y="3260478"/>
              <a:ext cx="231743" cy="35528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3F585799-5D58-4D49-BDAE-21DFCAF1BEBC}"/>
                </a:ext>
              </a:extLst>
            </p:cNvPr>
            <p:cNvCxnSpPr>
              <a:cxnSpLocks/>
              <a:endCxn id="126" idx="1"/>
            </p:cNvCxnSpPr>
            <p:nvPr/>
          </p:nvCxnSpPr>
          <p:spPr>
            <a:xfrm>
              <a:off x="4480761" y="3270238"/>
              <a:ext cx="127768" cy="345525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081C74AA-0DC5-884B-A184-97EFBDA271D6}"/>
                </a:ext>
              </a:extLst>
            </p:cNvPr>
            <p:cNvSpPr txBox="1"/>
            <p:nvPr/>
          </p:nvSpPr>
          <p:spPr>
            <a:xfrm>
              <a:off x="1260601" y="3984579"/>
              <a:ext cx="109812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Ring </a:t>
              </a:r>
              <a:r>
                <a:rPr lang="en-US" dirty="0" err="1"/>
                <a:t>Bufs</a:t>
              </a:r>
              <a:endParaRPr lang="en-US" dirty="0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431A4338-1DB3-734A-9BBA-9B48909AA1A8}"/>
                </a:ext>
              </a:extLst>
            </p:cNvPr>
            <p:cNvSpPr txBox="1"/>
            <p:nvPr/>
          </p:nvSpPr>
          <p:spPr>
            <a:xfrm>
              <a:off x="2490419" y="5213376"/>
              <a:ext cx="1621521" cy="27699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>
                  <a:latin typeface="Arial" pitchFamily="34" charset="0"/>
                  <a:cs typeface="Arial" pitchFamily="34" charset="0"/>
                </a:rPr>
                <a:t>Building Thread 1</a:t>
              </a:r>
              <a:endParaRPr lang="en-US" sz="8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874C25CA-FE0C-5447-835F-A0BB4FCCD2F0}"/>
                </a:ext>
              </a:extLst>
            </p:cNvPr>
            <p:cNvSpPr txBox="1"/>
            <p:nvPr/>
          </p:nvSpPr>
          <p:spPr>
            <a:xfrm>
              <a:off x="4339424" y="5213320"/>
              <a:ext cx="1621521" cy="27699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Building Thread 2</a:t>
              </a:r>
              <a:endParaRPr lang="en-US" sz="800" b="1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D42140AA-0488-894D-9652-193E3F4C11C2}"/>
                </a:ext>
              </a:extLst>
            </p:cNvPr>
            <p:cNvCxnSpPr>
              <a:cxnSpLocks/>
            </p:cNvCxnSpPr>
            <p:nvPr/>
          </p:nvCxnSpPr>
          <p:spPr>
            <a:xfrm>
              <a:off x="5670099" y="4861551"/>
              <a:ext cx="127768" cy="34694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A71305A6-2CEC-A140-B340-E40299F368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06224" y="4883571"/>
              <a:ext cx="202451" cy="324924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8" name="Rectangle 147">
            <a:extLst>
              <a:ext uri="{FF2B5EF4-FFF2-40B4-BE49-F238E27FC236}">
                <a16:creationId xmlns:a16="http://schemas.microsoft.com/office/drawing/2014/main" id="{0DAE4991-E685-3146-A0B6-A520E73F3A04}"/>
              </a:ext>
            </a:extLst>
          </p:cNvPr>
          <p:cNvSpPr/>
          <p:nvPr/>
        </p:nvSpPr>
        <p:spPr>
          <a:xfrm>
            <a:off x="1136470" y="521985"/>
            <a:ext cx="1663880" cy="205584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D80EFE38-8E28-EE4D-9D70-6D1D9F03D6C2}"/>
              </a:ext>
            </a:extLst>
          </p:cNvPr>
          <p:cNvSpPr/>
          <p:nvPr/>
        </p:nvSpPr>
        <p:spPr>
          <a:xfrm>
            <a:off x="3468224" y="528407"/>
            <a:ext cx="1663880" cy="205584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AF9D0AF4-F7F6-AE42-A81F-45E0F47384C5}"/>
              </a:ext>
            </a:extLst>
          </p:cNvPr>
          <p:cNvSpPr/>
          <p:nvPr/>
        </p:nvSpPr>
        <p:spPr>
          <a:xfrm>
            <a:off x="5793602" y="528449"/>
            <a:ext cx="1663880" cy="205584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43904544-4EA3-2740-82A3-3D3BAC36931B}"/>
              </a:ext>
            </a:extLst>
          </p:cNvPr>
          <p:cNvGrpSpPr/>
          <p:nvPr/>
        </p:nvGrpSpPr>
        <p:grpSpPr>
          <a:xfrm>
            <a:off x="1450961" y="5792247"/>
            <a:ext cx="2806071" cy="792865"/>
            <a:chOff x="1624519" y="5920280"/>
            <a:chExt cx="2806071" cy="792865"/>
          </a:xfrm>
        </p:grpSpPr>
        <p:sp>
          <p:nvSpPr>
            <p:cNvPr id="163" name="Rounded Rectangle 162">
              <a:extLst>
                <a:ext uri="{FF2B5EF4-FFF2-40B4-BE49-F238E27FC236}">
                  <a16:creationId xmlns:a16="http://schemas.microsoft.com/office/drawing/2014/main" id="{0B8434F3-2A22-8848-A9BF-8F6A06C2A260}"/>
                </a:ext>
              </a:extLst>
            </p:cNvPr>
            <p:cNvSpPr/>
            <p:nvPr/>
          </p:nvSpPr>
          <p:spPr>
            <a:xfrm>
              <a:off x="1624519" y="5920280"/>
              <a:ext cx="2806071" cy="792865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A8D31A6D-86EE-B144-82AE-9C654D033315}"/>
                </a:ext>
              </a:extLst>
            </p:cNvPr>
            <p:cNvSpPr txBox="1"/>
            <p:nvPr/>
          </p:nvSpPr>
          <p:spPr>
            <a:xfrm>
              <a:off x="1624519" y="5980946"/>
              <a:ext cx="936479" cy="46936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Output Channel 1</a:t>
              </a:r>
            </a:p>
          </p:txBody>
        </p:sp>
        <p:grpSp>
          <p:nvGrpSpPr>
            <p:cNvPr id="170" name="Group 169">
              <a:extLst>
                <a:ext uri="{FF2B5EF4-FFF2-40B4-BE49-F238E27FC236}">
                  <a16:creationId xmlns:a16="http://schemas.microsoft.com/office/drawing/2014/main" id="{67F6C6D9-E2C4-5E49-8AC0-F80283430FCF}"/>
                </a:ext>
              </a:extLst>
            </p:cNvPr>
            <p:cNvGrpSpPr/>
            <p:nvPr/>
          </p:nvGrpSpPr>
          <p:grpSpPr>
            <a:xfrm>
              <a:off x="2705492" y="6017236"/>
              <a:ext cx="661683" cy="529690"/>
              <a:chOff x="2705492" y="6017236"/>
              <a:chExt cx="661683" cy="529690"/>
            </a:xfrm>
          </p:grpSpPr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9400750D-BE34-2244-BB92-D54B7CB234B9}"/>
                  </a:ext>
                </a:extLst>
              </p:cNvPr>
              <p:cNvSpPr/>
              <p:nvPr/>
            </p:nvSpPr>
            <p:spPr>
              <a:xfrm>
                <a:off x="2771489" y="6017236"/>
                <a:ext cx="529690" cy="52969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3CD00735-E32D-2D46-8B0D-B26BCF37CBCF}"/>
                  </a:ext>
                </a:extLst>
              </p:cNvPr>
              <p:cNvSpPr txBox="1"/>
              <p:nvPr/>
            </p:nvSpPr>
            <p:spPr>
              <a:xfrm>
                <a:off x="2705492" y="6145659"/>
                <a:ext cx="661683" cy="27699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latin typeface="Arial" pitchFamily="34" charset="0"/>
                    <a:cs typeface="Arial" pitchFamily="34" charset="0"/>
                  </a:rPr>
                  <a:t>Ring 1</a:t>
                </a:r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756ABFAC-CE73-1D43-BEC5-2A6FD6637681}"/>
                </a:ext>
              </a:extLst>
            </p:cNvPr>
            <p:cNvGrpSpPr/>
            <p:nvPr/>
          </p:nvGrpSpPr>
          <p:grpSpPr>
            <a:xfrm>
              <a:off x="3543311" y="6023340"/>
              <a:ext cx="661683" cy="529690"/>
              <a:chOff x="2705492" y="6017236"/>
              <a:chExt cx="661683" cy="529690"/>
            </a:xfrm>
          </p:grpSpPr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2651892B-8D0F-FE46-AF30-16D13CC7C6D4}"/>
                  </a:ext>
                </a:extLst>
              </p:cNvPr>
              <p:cNvSpPr/>
              <p:nvPr/>
            </p:nvSpPr>
            <p:spPr>
              <a:xfrm>
                <a:off x="2771489" y="6017236"/>
                <a:ext cx="529690" cy="52969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CA918751-C341-F54A-BCB7-14D7E1902CF1}"/>
                  </a:ext>
                </a:extLst>
              </p:cNvPr>
              <p:cNvSpPr txBox="1"/>
              <p:nvPr/>
            </p:nvSpPr>
            <p:spPr>
              <a:xfrm>
                <a:off x="2705492" y="6145659"/>
                <a:ext cx="661683" cy="27699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latin typeface="Arial" pitchFamily="34" charset="0"/>
                    <a:cs typeface="Arial" pitchFamily="34" charset="0"/>
                  </a:rPr>
                  <a:t>Ring 2</a:t>
                </a:r>
              </a:p>
            </p:txBody>
          </p:sp>
        </p:grpSp>
      </p:grp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EB1B3DB8-9C26-004E-A78D-78C0C55ACED7}"/>
              </a:ext>
            </a:extLst>
          </p:cNvPr>
          <p:cNvCxnSpPr>
            <a:cxnSpLocks/>
            <a:stCxn id="141" idx="2"/>
            <a:endCxn id="168" idx="0"/>
          </p:cNvCxnSpPr>
          <p:nvPr/>
        </p:nvCxnSpPr>
        <p:spPr>
          <a:xfrm flipH="1">
            <a:off x="2862776" y="5490375"/>
            <a:ext cx="438404" cy="39882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BD670ECD-ECCA-6549-AE3E-3D6D4707BA68}"/>
              </a:ext>
            </a:extLst>
          </p:cNvPr>
          <p:cNvCxnSpPr>
            <a:cxnSpLocks/>
            <a:stCxn id="142" idx="2"/>
            <a:endCxn id="172" idx="0"/>
          </p:cNvCxnSpPr>
          <p:nvPr/>
        </p:nvCxnSpPr>
        <p:spPr>
          <a:xfrm flipH="1">
            <a:off x="3700595" y="5490319"/>
            <a:ext cx="1449590" cy="40498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8861B3D8-860A-D545-B17D-6B37CDC0B2DE}"/>
              </a:ext>
            </a:extLst>
          </p:cNvPr>
          <p:cNvGrpSpPr/>
          <p:nvPr/>
        </p:nvGrpSpPr>
        <p:grpSpPr>
          <a:xfrm>
            <a:off x="4405039" y="5787656"/>
            <a:ext cx="2806071" cy="792865"/>
            <a:chOff x="1624519" y="5920280"/>
            <a:chExt cx="2806071" cy="792865"/>
          </a:xfrm>
        </p:grpSpPr>
        <p:sp>
          <p:nvSpPr>
            <p:cNvPr id="180" name="Rounded Rectangle 179">
              <a:extLst>
                <a:ext uri="{FF2B5EF4-FFF2-40B4-BE49-F238E27FC236}">
                  <a16:creationId xmlns:a16="http://schemas.microsoft.com/office/drawing/2014/main" id="{A1BCFA76-957D-AB44-A8E2-F0932B338932}"/>
                </a:ext>
              </a:extLst>
            </p:cNvPr>
            <p:cNvSpPr/>
            <p:nvPr/>
          </p:nvSpPr>
          <p:spPr>
            <a:xfrm>
              <a:off x="1624519" y="5920280"/>
              <a:ext cx="2806071" cy="792865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01283398-9A7E-C845-B3C4-ABD57F1B2440}"/>
                </a:ext>
              </a:extLst>
            </p:cNvPr>
            <p:cNvSpPr txBox="1"/>
            <p:nvPr/>
          </p:nvSpPr>
          <p:spPr>
            <a:xfrm>
              <a:off x="1624519" y="5980946"/>
              <a:ext cx="936479" cy="469368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itchFamily="34" charset="0"/>
                  <a:cs typeface="Arial" pitchFamily="34" charset="0"/>
                </a:rPr>
                <a:t>Output Channel 2</a:t>
              </a:r>
            </a:p>
          </p:txBody>
        </p: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89507A3C-238D-3D45-BBF8-854033B32805}"/>
                </a:ext>
              </a:extLst>
            </p:cNvPr>
            <p:cNvGrpSpPr/>
            <p:nvPr/>
          </p:nvGrpSpPr>
          <p:grpSpPr>
            <a:xfrm>
              <a:off x="2705492" y="6017236"/>
              <a:ext cx="661683" cy="529690"/>
              <a:chOff x="2705492" y="6017236"/>
              <a:chExt cx="661683" cy="529690"/>
            </a:xfrm>
          </p:grpSpPr>
          <p:sp>
            <p:nvSpPr>
              <p:cNvPr id="186" name="Oval 185">
                <a:extLst>
                  <a:ext uri="{FF2B5EF4-FFF2-40B4-BE49-F238E27FC236}">
                    <a16:creationId xmlns:a16="http://schemas.microsoft.com/office/drawing/2014/main" id="{9F4B3370-C9C5-7648-8D1E-1538A2E9F304}"/>
                  </a:ext>
                </a:extLst>
              </p:cNvPr>
              <p:cNvSpPr/>
              <p:nvPr/>
            </p:nvSpPr>
            <p:spPr>
              <a:xfrm>
                <a:off x="2771489" y="6017236"/>
                <a:ext cx="529690" cy="52969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4BA1D39B-EF78-EB47-96A0-AD0B3779A5A4}"/>
                  </a:ext>
                </a:extLst>
              </p:cNvPr>
              <p:cNvSpPr txBox="1"/>
              <p:nvPr/>
            </p:nvSpPr>
            <p:spPr>
              <a:xfrm>
                <a:off x="2705492" y="6145659"/>
                <a:ext cx="661683" cy="27699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latin typeface="Arial" pitchFamily="34" charset="0"/>
                    <a:cs typeface="Arial" pitchFamily="34" charset="0"/>
                  </a:rPr>
                  <a:t>Ring 1</a:t>
                </a:r>
              </a:p>
            </p:txBody>
          </p:sp>
        </p:grp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2BF40376-ADDA-3C46-B882-4133397D727A}"/>
                </a:ext>
              </a:extLst>
            </p:cNvPr>
            <p:cNvGrpSpPr/>
            <p:nvPr/>
          </p:nvGrpSpPr>
          <p:grpSpPr>
            <a:xfrm>
              <a:off x="3543311" y="6023340"/>
              <a:ext cx="661683" cy="529690"/>
              <a:chOff x="2705492" y="6017236"/>
              <a:chExt cx="661683" cy="529690"/>
            </a:xfrm>
          </p:grpSpPr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AB980858-C82F-BC43-BCA3-47FC342E6FF5}"/>
                  </a:ext>
                </a:extLst>
              </p:cNvPr>
              <p:cNvSpPr/>
              <p:nvPr/>
            </p:nvSpPr>
            <p:spPr>
              <a:xfrm>
                <a:off x="2771489" y="6017236"/>
                <a:ext cx="529690" cy="52969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3EF7B70A-4A0A-514E-8BDC-0878920FC6F6}"/>
                  </a:ext>
                </a:extLst>
              </p:cNvPr>
              <p:cNvSpPr txBox="1"/>
              <p:nvPr/>
            </p:nvSpPr>
            <p:spPr>
              <a:xfrm>
                <a:off x="2705492" y="6145659"/>
                <a:ext cx="661683" cy="276999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latin typeface="Arial" pitchFamily="34" charset="0"/>
                    <a:cs typeface="Arial" pitchFamily="34" charset="0"/>
                  </a:rPr>
                  <a:t>Ring 2</a:t>
                </a:r>
              </a:p>
            </p:txBody>
          </p:sp>
        </p:grpSp>
      </p:grp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D9B28603-1B33-E247-A4D3-FABF0CA612F9}"/>
              </a:ext>
            </a:extLst>
          </p:cNvPr>
          <p:cNvCxnSpPr>
            <a:cxnSpLocks/>
            <a:stCxn id="141" idx="2"/>
            <a:endCxn id="186" idx="1"/>
          </p:cNvCxnSpPr>
          <p:nvPr/>
        </p:nvCxnSpPr>
        <p:spPr>
          <a:xfrm>
            <a:off x="3301180" y="5490375"/>
            <a:ext cx="2328400" cy="47180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83B5FEBB-05A2-CE4F-9560-6486C46E07E9}"/>
              </a:ext>
            </a:extLst>
          </p:cNvPr>
          <p:cNvCxnSpPr>
            <a:cxnSpLocks/>
            <a:stCxn id="142" idx="2"/>
            <a:endCxn id="184" idx="1"/>
          </p:cNvCxnSpPr>
          <p:nvPr/>
        </p:nvCxnSpPr>
        <p:spPr>
          <a:xfrm>
            <a:off x="5150185" y="5490319"/>
            <a:ext cx="1317214" cy="477968"/>
          </a:xfrm>
          <a:prstGeom prst="straightConnector1">
            <a:avLst/>
          </a:prstGeom>
          <a:ln w="254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9C82AD23-604E-384F-A0A9-54ABB330727D}"/>
              </a:ext>
            </a:extLst>
          </p:cNvPr>
          <p:cNvCxnSpPr>
            <a:cxnSpLocks/>
            <a:stCxn id="168" idx="5"/>
          </p:cNvCxnSpPr>
          <p:nvPr/>
        </p:nvCxnSpPr>
        <p:spPr>
          <a:xfrm>
            <a:off x="3050050" y="6341322"/>
            <a:ext cx="225578" cy="77571"/>
          </a:xfrm>
          <a:prstGeom prst="straightConnector1">
            <a:avLst/>
          </a:prstGeom>
          <a:ln w="25400">
            <a:solidFill>
              <a:schemeClr val="accent4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B7E9D5BC-7443-FA49-8AC7-9B360753C48F}"/>
              </a:ext>
            </a:extLst>
          </p:cNvPr>
          <p:cNvCxnSpPr>
            <a:cxnSpLocks/>
            <a:endCxn id="172" idx="3"/>
          </p:cNvCxnSpPr>
          <p:nvPr/>
        </p:nvCxnSpPr>
        <p:spPr>
          <a:xfrm flipV="1">
            <a:off x="3275628" y="6347426"/>
            <a:ext cx="237693" cy="82049"/>
          </a:xfrm>
          <a:prstGeom prst="straightConnector1">
            <a:avLst/>
          </a:prstGeom>
          <a:ln w="25400">
            <a:solidFill>
              <a:schemeClr val="accent4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Arrow Connector 204">
            <a:extLst>
              <a:ext uri="{FF2B5EF4-FFF2-40B4-BE49-F238E27FC236}">
                <a16:creationId xmlns:a16="http://schemas.microsoft.com/office/drawing/2014/main" id="{22FC8A77-D9B6-524E-8E56-6D1E941BB8AA}"/>
              </a:ext>
            </a:extLst>
          </p:cNvPr>
          <p:cNvCxnSpPr>
            <a:cxnSpLocks/>
          </p:cNvCxnSpPr>
          <p:nvPr/>
        </p:nvCxnSpPr>
        <p:spPr>
          <a:xfrm flipH="1">
            <a:off x="3287743" y="6429475"/>
            <a:ext cx="13437" cy="381016"/>
          </a:xfrm>
          <a:prstGeom prst="straightConnector1">
            <a:avLst/>
          </a:prstGeom>
          <a:ln w="25400">
            <a:solidFill>
              <a:schemeClr val="accent4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Arrow Connector 207">
            <a:extLst>
              <a:ext uri="{FF2B5EF4-FFF2-40B4-BE49-F238E27FC236}">
                <a16:creationId xmlns:a16="http://schemas.microsoft.com/office/drawing/2014/main" id="{0237BFFC-0C4B-7148-93A7-1E8118BD01B8}"/>
              </a:ext>
            </a:extLst>
          </p:cNvPr>
          <p:cNvCxnSpPr>
            <a:cxnSpLocks/>
          </p:cNvCxnSpPr>
          <p:nvPr/>
        </p:nvCxnSpPr>
        <p:spPr>
          <a:xfrm>
            <a:off x="6004128" y="6328678"/>
            <a:ext cx="225578" cy="77571"/>
          </a:xfrm>
          <a:prstGeom prst="straightConnector1">
            <a:avLst/>
          </a:prstGeom>
          <a:ln w="25400">
            <a:solidFill>
              <a:schemeClr val="accent4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A33DF7FF-AD0F-1545-B88D-1733E6271495}"/>
              </a:ext>
            </a:extLst>
          </p:cNvPr>
          <p:cNvCxnSpPr>
            <a:cxnSpLocks/>
          </p:cNvCxnSpPr>
          <p:nvPr/>
        </p:nvCxnSpPr>
        <p:spPr>
          <a:xfrm flipV="1">
            <a:off x="6229706" y="6334782"/>
            <a:ext cx="237693" cy="82049"/>
          </a:xfrm>
          <a:prstGeom prst="straightConnector1">
            <a:avLst/>
          </a:prstGeom>
          <a:ln w="25400">
            <a:solidFill>
              <a:schemeClr val="accent4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Arrow Connector 209">
            <a:extLst>
              <a:ext uri="{FF2B5EF4-FFF2-40B4-BE49-F238E27FC236}">
                <a16:creationId xmlns:a16="http://schemas.microsoft.com/office/drawing/2014/main" id="{47D25900-9C47-A243-A865-9B88246712F7}"/>
              </a:ext>
            </a:extLst>
          </p:cNvPr>
          <p:cNvCxnSpPr>
            <a:cxnSpLocks/>
          </p:cNvCxnSpPr>
          <p:nvPr/>
        </p:nvCxnSpPr>
        <p:spPr>
          <a:xfrm flipH="1">
            <a:off x="6241821" y="6416831"/>
            <a:ext cx="13437" cy="381016"/>
          </a:xfrm>
          <a:prstGeom prst="straightConnector1">
            <a:avLst/>
          </a:prstGeom>
          <a:ln w="25400">
            <a:solidFill>
              <a:schemeClr val="accent4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Rectangle 210">
            <a:extLst>
              <a:ext uri="{FF2B5EF4-FFF2-40B4-BE49-F238E27FC236}">
                <a16:creationId xmlns:a16="http://schemas.microsoft.com/office/drawing/2014/main" id="{D230B07C-2E8E-1A42-A5D3-D2D6A1A58C39}"/>
              </a:ext>
            </a:extLst>
          </p:cNvPr>
          <p:cNvSpPr/>
          <p:nvPr/>
        </p:nvSpPr>
        <p:spPr>
          <a:xfrm>
            <a:off x="894945" y="0"/>
            <a:ext cx="6828817" cy="685800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96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13100</TotalTime>
  <Words>859</Words>
  <Application>Microsoft Macintosh PowerPoint</Application>
  <PresentationFormat>Letter Paper (8.5x11 in)</PresentationFormat>
  <Paragraphs>205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Carl Timmer</cp:lastModifiedBy>
  <cp:revision>28</cp:revision>
  <cp:lastPrinted>2021-08-25T18:15:54Z</cp:lastPrinted>
  <dcterms:created xsi:type="dcterms:W3CDTF">2021-08-25T15:21:00Z</dcterms:created>
  <dcterms:modified xsi:type="dcterms:W3CDTF">2022-11-03T19:58:35Z</dcterms:modified>
</cp:coreProperties>
</file>